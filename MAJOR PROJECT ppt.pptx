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handoutMasterIdLst>
    <p:handoutMasterId r:id="rId18"/>
  </p:handoutMasterIdLst>
  <p:sldIdLst>
    <p:sldId id="256" r:id="rId2"/>
    <p:sldId id="257" r:id="rId3"/>
    <p:sldId id="259" r:id="rId4"/>
    <p:sldId id="309" r:id="rId5"/>
    <p:sldId id="260" r:id="rId6"/>
    <p:sldId id="311" r:id="rId7"/>
    <p:sldId id="312" r:id="rId8"/>
    <p:sldId id="261" r:id="rId9"/>
    <p:sldId id="304" r:id="rId10"/>
    <p:sldId id="314" r:id="rId11"/>
    <p:sldId id="315" r:id="rId12"/>
    <p:sldId id="308" r:id="rId13"/>
    <p:sldId id="306" r:id="rId14"/>
    <p:sldId id="307" r:id="rId15"/>
    <p:sldId id="264" r:id="rId16"/>
  </p:sldIdLst>
  <p:sldSz cx="12192000" cy="6858000"/>
  <p:notesSz cx="6858000" cy="9144000"/>
  <p:embeddedFontLst>
    <p:embeddedFont>
      <p:font typeface="DM Sans" pitchFamily="2" charset="0"/>
      <p:regular r:id="rId19"/>
      <p:bold r:id="rId20"/>
      <p:italic r:id="rId21"/>
      <p:boldItalic r:id="rId22"/>
    </p:embeddedFont>
    <p:embeddedFont>
      <p:font typeface="Hubot-Sans" panose="020B0604020202020204" charset="0"/>
      <p:regular r:id="rId23"/>
      <p:bold r:id="rId24"/>
    </p:embeddedFont>
    <p:embeddedFont>
      <p:font typeface="Hubot-Sans Black" panose="020B0604020202020204" charset="0"/>
      <p:bold r:id="rId25"/>
    </p:embeddedFont>
  </p:embeddedFontLst>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376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1" clrIdx="0"/>
  <p:cmAuthor id="2" name="kingsoft" initials="k"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B759D"/>
    <a:srgbClr val="5B86B1"/>
    <a:srgbClr val="C2C2CF"/>
    <a:srgbClr val="FFCFA6"/>
    <a:srgbClr val="688EB8"/>
    <a:srgbClr val="6E9DC8"/>
    <a:srgbClr val="7798BF"/>
    <a:srgbClr val="61B0AF"/>
    <a:srgbClr val="1C58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2" d="100"/>
          <a:sy n="82" d="100"/>
        </p:scale>
        <p:origin x="773" y="72"/>
      </p:cViewPr>
      <p:guideLst>
        <p:guide orient="horz" pos="2158"/>
        <p:guide pos="376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Hubot-Sans Black" charset="0"/>
              <a:ea typeface="Hubot-Sans" charset="0"/>
              <a:cs typeface="Hubot-Sans"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Hubot-Sans Black" charset="0"/>
                <a:ea typeface="Hubot-Sans" charset="0"/>
                <a:cs typeface="Hubot-Sans" charset="0"/>
              </a:rPr>
              <a:t>2025/11/16</a:t>
            </a:fld>
            <a:endParaRPr lang="zh-CN" altLang="en-US">
              <a:latin typeface="Hubot-Sans Black" charset="0"/>
              <a:ea typeface="Hubot-Sans" charset="0"/>
              <a:cs typeface="Hubot-Sans"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Hubot-Sans Black" charset="0"/>
              <a:ea typeface="Hubot-Sans" charset="0"/>
              <a:cs typeface="Hubot-Sans"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Hubot-Sans Black" charset="0"/>
                <a:ea typeface="Hubot-Sans" charset="0"/>
                <a:cs typeface="Hubot-Sans" charset="0"/>
              </a:rPr>
              <a:t>‹#›</a:t>
            </a:fld>
            <a:endParaRPr lang="zh-CN" altLang="en-US">
              <a:latin typeface="Hubot-Sans Black" charset="0"/>
              <a:ea typeface="Hubot-Sans" charset="0"/>
              <a:cs typeface="Hubot-Sans"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Hubot-Sans Black" charset="0"/>
                <a:ea typeface="Hubot-Sans" charset="0"/>
                <a:cs typeface="Hubot-Sans"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Hubot-Sans Black" charset="0"/>
                <a:ea typeface="Hubot-Sans" charset="0"/>
                <a:cs typeface="Hubot-Sans" charset="0"/>
              </a:defRPr>
            </a:lvl1pPr>
          </a:lstStyle>
          <a:p>
            <a:fld id="{D2A48B96-639E-45A3-A0BA-2464DFDB1FAA}"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Hubot-Sans Black" charset="0"/>
                <a:ea typeface="Hubot-Sans" charset="0"/>
                <a:cs typeface="Hubot-Sans"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Hubot-Sans Black" charset="0"/>
                <a:ea typeface="Hubot-Sans" charset="0"/>
                <a:cs typeface="Hubot-Sans" charset="0"/>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ubot-Sans Black" charset="0"/>
        <a:ea typeface="Hubot-Sans" charset="0"/>
        <a:cs typeface="Hubot-Sans" charset="0"/>
      </a:defRPr>
    </a:lvl1pPr>
    <a:lvl2pPr marL="457200" algn="l" defTabSz="914400" rtl="0" eaLnBrk="1" latinLnBrk="0" hangingPunct="1">
      <a:defRPr sz="1200" kern="1200">
        <a:solidFill>
          <a:schemeClr val="tx1"/>
        </a:solidFill>
        <a:latin typeface="Hubot-Sans Black" charset="0"/>
        <a:ea typeface="Hubot-Sans" charset="0"/>
        <a:cs typeface="Hubot-Sans" charset="0"/>
      </a:defRPr>
    </a:lvl2pPr>
    <a:lvl3pPr marL="914400" algn="l" defTabSz="914400" rtl="0" eaLnBrk="1" latinLnBrk="0" hangingPunct="1">
      <a:defRPr sz="1200" kern="1200">
        <a:solidFill>
          <a:schemeClr val="tx1"/>
        </a:solidFill>
        <a:latin typeface="Hubot-Sans Black" charset="0"/>
        <a:ea typeface="Hubot-Sans" charset="0"/>
        <a:cs typeface="Hubot-Sans" charset="0"/>
      </a:defRPr>
    </a:lvl3pPr>
    <a:lvl4pPr marL="1371600" algn="l" defTabSz="914400" rtl="0" eaLnBrk="1" latinLnBrk="0" hangingPunct="1">
      <a:defRPr sz="1200" kern="1200">
        <a:solidFill>
          <a:schemeClr val="tx1"/>
        </a:solidFill>
        <a:latin typeface="Hubot-Sans Black" charset="0"/>
        <a:ea typeface="Hubot-Sans" charset="0"/>
        <a:cs typeface="Hubot-Sans" charset="0"/>
      </a:defRPr>
    </a:lvl4pPr>
    <a:lvl5pPr marL="1828800" algn="l" defTabSz="914400" rtl="0" eaLnBrk="1" latinLnBrk="0" hangingPunct="1">
      <a:defRPr sz="1200" kern="1200">
        <a:solidFill>
          <a:schemeClr val="tx1"/>
        </a:solidFill>
        <a:latin typeface="Hubot-Sans Black" charset="0"/>
        <a:ea typeface="Hubot-Sans" charset="0"/>
        <a:cs typeface="Hubot-Sans"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Hubot-Sans" charset="0"/>
                <a:ea typeface="Hubot-Sans" charset="0"/>
                <a:cs typeface="Hubot-Sans" charset="0"/>
              </a:defRPr>
            </a:lvl1p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Hubot-Sans" charset="0"/>
                <a:ea typeface="Hubot-Sans" charset="0"/>
                <a:cs typeface="Hubot-Sans" charset="0"/>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Hubot-Sans" charset="0"/>
                <a:ea typeface="Hubot-Sans" charset="0"/>
                <a:cs typeface="Hubot-Sans" charset="0"/>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Hubot-Sans" charset="0"/>
          <a:ea typeface="Hubot-Sans" charset="0"/>
          <a:cs typeface="Hubot-Sans"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Hubot-Sans" charset="0"/>
          <a:ea typeface="Hubot-Sans" charset="0"/>
          <a:cs typeface="Hubot-Sans"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Hubot-Sans" charset="0"/>
          <a:ea typeface="Hubot-Sans" charset="0"/>
          <a:cs typeface="Hubot-Sans"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Hubot-Sans" charset="0"/>
          <a:ea typeface="Hubot-Sans" charset="0"/>
          <a:cs typeface="Hubot-Sans"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Hubot-Sans" charset="0"/>
          <a:ea typeface="Hubot-Sans" charset="0"/>
          <a:cs typeface="Hubot-Sans"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Hubot-Sans" charset="0"/>
          <a:ea typeface="Hubot-Sans" charset="0"/>
          <a:cs typeface="Hubot-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0.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9"/>
          <p:cNvSpPr/>
          <p:nvPr/>
        </p:nvSpPr>
        <p:spPr>
          <a:xfrm>
            <a:off x="-3810" y="0"/>
            <a:ext cx="5557520" cy="6851650"/>
          </a:xfrm>
          <a:prstGeom prst="rect">
            <a:avLst/>
          </a:prstGeom>
          <a:gradFill flip="none" rotWithShape="1">
            <a:gsLst>
              <a:gs pos="62000">
                <a:schemeClr val="accent1">
                  <a:alpha val="60000"/>
                </a:schemeClr>
              </a:gs>
              <a:gs pos="100000">
                <a:schemeClr val="accent1">
                  <a:alpha val="0"/>
                </a:scheme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id-ID" sz="5400" b="0" i="0" u="none" strike="noStrike" kern="1200" cap="none" spc="0" normalizeH="0" baseline="0" noProof="0">
              <a:ln>
                <a:noFill/>
              </a:ln>
              <a:solidFill>
                <a:schemeClr val="tx2"/>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id-ID" sz="3600" b="0" i="0" u="none" strike="noStrike" kern="1200" cap="none" spc="0" normalizeH="0" baseline="0" noProof="0">
              <a:ln>
                <a:noFill/>
              </a:ln>
              <a:solidFill>
                <a:schemeClr val="tx2"/>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id-ID" sz="3600" b="0" i="0" u="none" strike="noStrike" kern="1200" cap="none" spc="0" normalizeH="0" baseline="0" noProof="0">
              <a:ln>
                <a:noFill/>
              </a:ln>
              <a:solidFill>
                <a:schemeClr val="tx2"/>
              </a:solidFill>
              <a:effectLst/>
              <a:uLnTx/>
              <a:uFillTx/>
              <a:cs typeface="+mn-ea"/>
              <a:sym typeface="+mn-lt"/>
            </a:endParaRPr>
          </a:p>
        </p:txBody>
      </p:sp>
      <p:pic>
        <p:nvPicPr>
          <p:cNvPr id="13" name="Picture 12"/>
          <p:cNvPicPr>
            <a:picLocks noChangeAspect="1"/>
          </p:cNvPicPr>
          <p:nvPr/>
        </p:nvPicPr>
        <p:blipFill>
          <a:blip r:embed="rId3"/>
          <a:stretch>
            <a:fillRect/>
          </a:stretch>
        </p:blipFill>
        <p:spPr>
          <a:xfrm>
            <a:off x="8986520" y="177800"/>
            <a:ext cx="2853690" cy="822960"/>
          </a:xfrm>
          <a:prstGeom prst="rect">
            <a:avLst/>
          </a:prstGeom>
        </p:spPr>
      </p:pic>
      <p:sp>
        <p:nvSpPr>
          <p:cNvPr id="4" name="Text Box 3"/>
          <p:cNvSpPr txBox="1"/>
          <p:nvPr/>
        </p:nvSpPr>
        <p:spPr>
          <a:xfrm>
            <a:off x="256540" y="1856105"/>
            <a:ext cx="11584305" cy="2306955"/>
          </a:xfrm>
          <a:prstGeom prst="rect">
            <a:avLst/>
          </a:prstGeom>
          <a:noFill/>
        </p:spPr>
        <p:txBody>
          <a:bodyPr wrap="square" rtlCol="0">
            <a:spAutoFit/>
          </a:bodyPr>
          <a:lstStyle/>
          <a:p>
            <a:r>
              <a:rPr lang="en-US" sz="7200" dirty="0"/>
              <a:t> CAPSTONE PROJECT</a:t>
            </a:r>
          </a:p>
          <a:p>
            <a:r>
              <a:rPr lang="en-US" sz="7200" dirty="0"/>
              <a:t>          TEAM NO: 71</a:t>
            </a:r>
          </a:p>
        </p:txBody>
      </p:sp>
      <p:sp>
        <p:nvSpPr>
          <p:cNvPr id="5" name="Text Box 4"/>
          <p:cNvSpPr txBox="1"/>
          <p:nvPr/>
        </p:nvSpPr>
        <p:spPr>
          <a:xfrm>
            <a:off x="333375" y="5669915"/>
            <a:ext cx="3674110" cy="1050609"/>
          </a:xfrm>
          <a:prstGeom prst="rect">
            <a:avLst/>
          </a:prstGeom>
          <a:noFill/>
        </p:spPr>
        <p:txBody>
          <a:bodyPr wrap="square" rtlCol="0">
            <a:spAutoFit/>
          </a:bodyPr>
          <a:lstStyle/>
          <a:p>
            <a:r>
              <a:rPr lang="en-US" sz="3600" b="1" dirty="0">
                <a:solidFill>
                  <a:srgbClr val="454240"/>
                </a:solidFill>
                <a:latin typeface="Times New Roman" panose="02020603050405020304" charset="0"/>
                <a:ea typeface="DM Sans Bold"/>
                <a:cs typeface="Times New Roman" panose="02020603050405020304" charset="0"/>
                <a:sym typeface="DM Sans Bold"/>
              </a:rPr>
              <a:t>Guide:</a:t>
            </a:r>
            <a:r>
              <a:rPr lang="en-US" sz="3600" dirty="0">
                <a:solidFill>
                  <a:srgbClr val="454240"/>
                </a:solidFill>
                <a:latin typeface="Times New Roman" panose="02020603050405020304" charset="0"/>
                <a:ea typeface="DM Sans"/>
                <a:cs typeface="Times New Roman" panose="02020603050405020304" charset="0"/>
                <a:sym typeface="DM Sans"/>
              </a:rPr>
              <a:t> </a:t>
            </a:r>
          </a:p>
          <a:p>
            <a:pPr algn="l">
              <a:lnSpc>
                <a:spcPts val="2875"/>
              </a:lnSpc>
            </a:pPr>
            <a:r>
              <a:rPr lang="en-US" sz="3600" dirty="0">
                <a:solidFill>
                  <a:srgbClr val="454240"/>
                </a:solidFill>
                <a:latin typeface="Times New Roman" panose="02020603050405020304" charset="0"/>
                <a:cs typeface="Times New Roman" panose="02020603050405020304" charset="0"/>
                <a:sym typeface="DM Sans"/>
              </a:rPr>
              <a:t>Dr </a:t>
            </a:r>
            <a:r>
              <a:rPr lang="en-US" sz="3600" dirty="0" err="1">
                <a:solidFill>
                  <a:srgbClr val="454240"/>
                </a:solidFill>
                <a:latin typeface="Times New Roman" panose="02020603050405020304" charset="0"/>
                <a:cs typeface="Times New Roman" panose="02020603050405020304" charset="0"/>
                <a:sym typeface="DM Sans"/>
              </a:rPr>
              <a:t>B.Ramadevi</a:t>
            </a:r>
            <a:endParaRPr lang="en-US" sz="36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C:/Users/JRNWSC3/AppData/Local/Temp/picturecompress_20220114142800/output_2.jpgoutput_2"/>
          <p:cNvPicPr>
            <a:picLocks noChangeAspect="1"/>
          </p:cNvPicPr>
          <p:nvPr/>
        </p:nvPicPr>
        <p:blipFill>
          <a:blip r:embed="rId4"/>
          <a:srcRect/>
          <a:stretch>
            <a:fillRect/>
          </a:stretch>
        </p:blipFill>
        <p:spPr>
          <a:xfrm>
            <a:off x="4128" y="0"/>
            <a:ext cx="12183745" cy="6851650"/>
          </a:xfrm>
          <a:prstGeom prst="rect">
            <a:avLst/>
          </a:prstGeom>
        </p:spPr>
      </p:pic>
      <p:sp>
        <p:nvSpPr>
          <p:cNvPr id="14" name="矩形 9"/>
          <p:cNvSpPr/>
          <p:nvPr/>
        </p:nvSpPr>
        <p:spPr>
          <a:xfrm>
            <a:off x="-3810" y="-6349"/>
            <a:ext cx="12192000" cy="6857999"/>
          </a:xfrm>
          <a:prstGeom prst="rect">
            <a:avLst/>
          </a:prstGeom>
          <a:gradFill flip="none" rotWithShape="1">
            <a:gsLst>
              <a:gs pos="0">
                <a:schemeClr val="accent1"/>
              </a:gs>
              <a:gs pos="100000">
                <a:schemeClr val="accent1">
                  <a:alpha val="0"/>
                </a:scheme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rgbClr val="FFFFFF"/>
              </a:solidFill>
              <a:effectLst/>
              <a:uLnTx/>
              <a:uFillTx/>
              <a:cs typeface="+mn-ea"/>
              <a:sym typeface="+mn-lt"/>
            </a:endParaRPr>
          </a:p>
        </p:txBody>
      </p:sp>
      <p:sp>
        <p:nvSpPr>
          <p:cNvPr id="17" name="任意多边形: 形状 6"/>
          <p:cNvSpPr/>
          <p:nvPr/>
        </p:nvSpPr>
        <p:spPr>
          <a:xfrm rot="5400000" flipV="1">
            <a:off x="-1464945" y="1464945"/>
            <a:ext cx="6858000" cy="3927475"/>
          </a:xfrm>
          <a:custGeom>
            <a:avLst/>
            <a:gdLst>
              <a:gd name="connsiteX0" fmla="*/ 6858001 w 6858001"/>
              <a:gd name="connsiteY0" fmla="*/ 0 h 4865108"/>
              <a:gd name="connsiteX1" fmla="*/ 6858000 w 6858001"/>
              <a:gd name="connsiteY1" fmla="*/ 3160994 h 4865108"/>
              <a:gd name="connsiteX2" fmla="*/ 4289760 w 6858001"/>
              <a:gd name="connsiteY2" fmla="*/ 1773756 h 4865108"/>
              <a:gd name="connsiteX3" fmla="*/ 1323948 w 6858001"/>
              <a:gd name="connsiteY3" fmla="*/ 4865108 h 4865108"/>
              <a:gd name="connsiteX4" fmla="*/ 0 w 6858001"/>
              <a:gd name="connsiteY4" fmla="*/ 4055161 h 4865108"/>
              <a:gd name="connsiteX5" fmla="*/ 1 w 6858001"/>
              <a:gd name="connsiteY5" fmla="*/ 0 h 4865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1" h="4865108">
                <a:moveTo>
                  <a:pt x="6858001" y="0"/>
                </a:moveTo>
                <a:lnTo>
                  <a:pt x="6858000" y="3160994"/>
                </a:lnTo>
                <a:lnTo>
                  <a:pt x="4289760" y="1773756"/>
                </a:lnTo>
                <a:lnTo>
                  <a:pt x="1323948" y="4865108"/>
                </a:lnTo>
                <a:lnTo>
                  <a:pt x="0" y="4055161"/>
                </a:lnTo>
                <a:lnTo>
                  <a:pt x="1" y="0"/>
                </a:lnTo>
                <a:close/>
              </a:path>
            </a:pathLst>
          </a:custGeom>
          <a:gradFill flip="none" rotWithShape="1">
            <a:gsLst>
              <a:gs pos="5000">
                <a:schemeClr val="accent1"/>
              </a:gs>
              <a:gs pos="100000">
                <a:schemeClr val="accent3">
                  <a:alpha val="43000"/>
                </a:schemeClr>
              </a:gs>
            </a:gsLst>
            <a:lin ang="135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2" name="任意多边形: 形状 8"/>
          <p:cNvSpPr/>
          <p:nvPr/>
        </p:nvSpPr>
        <p:spPr>
          <a:xfrm rot="5400000" flipV="1">
            <a:off x="-277495" y="1458595"/>
            <a:ext cx="6858000" cy="3927475"/>
          </a:xfrm>
          <a:custGeom>
            <a:avLst/>
            <a:gdLst>
              <a:gd name="connsiteX0" fmla="*/ 0 w 6858001"/>
              <a:gd name="connsiteY0" fmla="*/ 4055161 h 4865108"/>
              <a:gd name="connsiteX1" fmla="*/ 1323948 w 6858001"/>
              <a:gd name="connsiteY1" fmla="*/ 4865108 h 4865108"/>
              <a:gd name="connsiteX2" fmla="*/ 4289760 w 6858001"/>
              <a:gd name="connsiteY2" fmla="*/ 1773756 h 4865108"/>
              <a:gd name="connsiteX3" fmla="*/ 6858000 w 6858001"/>
              <a:gd name="connsiteY3" fmla="*/ 3160994 h 4865108"/>
              <a:gd name="connsiteX4" fmla="*/ 6858001 w 6858001"/>
              <a:gd name="connsiteY4" fmla="*/ 1681362 h 4865108"/>
              <a:gd name="connsiteX5" fmla="*/ 4289761 w 6858001"/>
              <a:gd name="connsiteY5" fmla="*/ 294124 h 4865108"/>
              <a:gd name="connsiteX6" fmla="*/ 1323949 w 6858001"/>
              <a:gd name="connsiteY6" fmla="*/ 3385476 h 4865108"/>
              <a:gd name="connsiteX7" fmla="*/ 1 w 6858001"/>
              <a:gd name="connsiteY7" fmla="*/ 2575529 h 4865108"/>
              <a:gd name="connsiteX8" fmla="*/ 2 w 6858001"/>
              <a:gd name="connsiteY8" fmla="*/ 0 h 4865108"/>
              <a:gd name="connsiteX9" fmla="*/ 1 w 6858001"/>
              <a:gd name="connsiteY9" fmla="*/ 0 h 4865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1" h="4865108">
                <a:moveTo>
                  <a:pt x="0" y="4055161"/>
                </a:moveTo>
                <a:lnTo>
                  <a:pt x="1323948" y="4865108"/>
                </a:lnTo>
                <a:lnTo>
                  <a:pt x="4289760" y="1773756"/>
                </a:lnTo>
                <a:lnTo>
                  <a:pt x="6858000" y="3160994"/>
                </a:lnTo>
                <a:lnTo>
                  <a:pt x="6858001" y="1681362"/>
                </a:lnTo>
                <a:lnTo>
                  <a:pt x="4289761" y="294124"/>
                </a:lnTo>
                <a:lnTo>
                  <a:pt x="1323949" y="3385476"/>
                </a:lnTo>
                <a:lnTo>
                  <a:pt x="1" y="2575529"/>
                </a:lnTo>
                <a:lnTo>
                  <a:pt x="2" y="0"/>
                </a:lnTo>
                <a:lnTo>
                  <a:pt x="1" y="0"/>
                </a:lnTo>
                <a:close/>
              </a:path>
            </a:pathLst>
          </a:custGeom>
          <a:gradFill flip="none" rotWithShape="1">
            <a:gsLst>
              <a:gs pos="5000">
                <a:schemeClr val="accent1">
                  <a:alpha val="0"/>
                </a:schemeClr>
              </a:gs>
              <a:gs pos="100000">
                <a:schemeClr val="accent3"/>
              </a:gs>
            </a:gsLst>
            <a:lin ang="135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 name="Text Box 1"/>
          <p:cNvSpPr txBox="1"/>
          <p:nvPr/>
        </p:nvSpPr>
        <p:spPr>
          <a:xfrm>
            <a:off x="184150" y="189865"/>
            <a:ext cx="7734300" cy="645160"/>
          </a:xfrm>
          <a:prstGeom prst="rect">
            <a:avLst/>
          </a:prstGeom>
          <a:noFill/>
        </p:spPr>
        <p:txBody>
          <a:bodyPr wrap="square" rtlCol="0">
            <a:spAutoFit/>
          </a:bodyPr>
          <a:lstStyle/>
          <a:p>
            <a:r>
              <a:rPr lang="en-US" sz="3600"/>
              <a:t>TEAM MEMBERS:</a:t>
            </a:r>
          </a:p>
        </p:txBody>
      </p:sp>
      <p:graphicFrame>
        <p:nvGraphicFramePr>
          <p:cNvPr id="6" name="Table 5"/>
          <p:cNvGraphicFramePr/>
          <p:nvPr>
            <p:custDataLst>
              <p:tags r:id="rId2"/>
            </p:custDataLst>
            <p:extLst>
              <p:ext uri="{D42A27DB-BD31-4B8C-83A1-F6EECF244321}">
                <p14:modId xmlns:p14="http://schemas.microsoft.com/office/powerpoint/2010/main" val="2307576462"/>
              </p:ext>
            </p:extLst>
          </p:nvPr>
        </p:nvGraphicFramePr>
        <p:xfrm>
          <a:off x="357396" y="835025"/>
          <a:ext cx="10048811" cy="5937900"/>
        </p:xfrm>
        <a:graphic>
          <a:graphicData uri="http://schemas.openxmlformats.org/drawingml/2006/table">
            <a:tbl>
              <a:tblPr firstRow="1" bandRow="1">
                <a:tableStyleId>{5C22544A-7EE6-4342-B048-85BDC9FD1C3A}</a:tableStyleId>
              </a:tblPr>
              <a:tblGrid>
                <a:gridCol w="1500150">
                  <a:extLst>
                    <a:ext uri="{9D8B030D-6E8A-4147-A177-3AD203B41FA5}">
                      <a16:colId xmlns:a16="http://schemas.microsoft.com/office/drawing/2014/main" val="20000"/>
                    </a:ext>
                  </a:extLst>
                </a:gridCol>
                <a:gridCol w="4768363">
                  <a:extLst>
                    <a:ext uri="{9D8B030D-6E8A-4147-A177-3AD203B41FA5}">
                      <a16:colId xmlns:a16="http://schemas.microsoft.com/office/drawing/2014/main" val="20001"/>
                    </a:ext>
                  </a:extLst>
                </a:gridCol>
                <a:gridCol w="3780298">
                  <a:extLst>
                    <a:ext uri="{9D8B030D-6E8A-4147-A177-3AD203B41FA5}">
                      <a16:colId xmlns:a16="http://schemas.microsoft.com/office/drawing/2014/main" val="20002"/>
                    </a:ext>
                  </a:extLst>
                </a:gridCol>
              </a:tblGrid>
              <a:tr h="894972">
                <a:tc>
                  <a:txBody>
                    <a:bodyPr/>
                    <a:lstStyle/>
                    <a:p>
                      <a:pPr>
                        <a:buNone/>
                      </a:pPr>
                      <a:r>
                        <a:rPr lang="en-US" dirty="0"/>
                        <a:t>S.NO</a:t>
                      </a:r>
                    </a:p>
                  </a:txBody>
                  <a:tcPr/>
                </a:tc>
                <a:tc>
                  <a:txBody>
                    <a:bodyPr/>
                    <a:lstStyle/>
                    <a:p>
                      <a:pPr>
                        <a:buNone/>
                      </a:pPr>
                      <a:r>
                        <a:rPr lang="en-US" dirty="0"/>
                        <a:t>                  NAME</a:t>
                      </a:r>
                    </a:p>
                  </a:txBody>
                  <a:tcPr/>
                </a:tc>
                <a:tc>
                  <a:txBody>
                    <a:bodyPr/>
                    <a:lstStyle/>
                    <a:p>
                      <a:pPr>
                        <a:buNone/>
                      </a:pPr>
                      <a:r>
                        <a:rPr lang="en-US"/>
                        <a:t>     ROLL NUMBER</a:t>
                      </a:r>
                    </a:p>
                  </a:txBody>
                  <a:tcPr/>
                </a:tc>
                <a:extLst>
                  <a:ext uri="{0D108BD9-81ED-4DB2-BD59-A6C34878D82A}">
                    <a16:rowId xmlns:a16="http://schemas.microsoft.com/office/drawing/2014/main" val="10000"/>
                  </a:ext>
                </a:extLst>
              </a:tr>
              <a:tr h="894972">
                <a:tc>
                  <a:txBody>
                    <a:bodyPr/>
                    <a:lstStyle/>
                    <a:p>
                      <a:pPr>
                        <a:buNone/>
                      </a:pPr>
                      <a:r>
                        <a:rPr lang="en-US"/>
                        <a:t>1</a:t>
                      </a:r>
                    </a:p>
                  </a:txBody>
                  <a:tcPr/>
                </a:tc>
                <a:tc>
                  <a:txBody>
                    <a:bodyPr/>
                    <a:lstStyle/>
                    <a:p>
                      <a:pPr>
                        <a:buNone/>
                      </a:pPr>
                      <a:r>
                        <a:rPr lang="en-US" dirty="0"/>
                        <a:t>E. Harshitha</a:t>
                      </a:r>
                    </a:p>
                  </a:txBody>
                  <a:tcPr/>
                </a:tc>
                <a:tc>
                  <a:txBody>
                    <a:bodyPr/>
                    <a:lstStyle/>
                    <a:p>
                      <a:pPr>
                        <a:buNone/>
                      </a:pPr>
                      <a:r>
                        <a:rPr lang="en-US" dirty="0"/>
                        <a:t>2203A52210</a:t>
                      </a:r>
                    </a:p>
                  </a:txBody>
                  <a:tcPr/>
                </a:tc>
                <a:extLst>
                  <a:ext uri="{0D108BD9-81ED-4DB2-BD59-A6C34878D82A}">
                    <a16:rowId xmlns:a16="http://schemas.microsoft.com/office/drawing/2014/main" val="10001"/>
                  </a:ext>
                </a:extLst>
              </a:tr>
              <a:tr h="894972">
                <a:tc>
                  <a:txBody>
                    <a:bodyPr/>
                    <a:lstStyle/>
                    <a:p>
                      <a:pPr>
                        <a:buNone/>
                      </a:pPr>
                      <a:r>
                        <a:rPr lang="en-US"/>
                        <a:t>2</a:t>
                      </a:r>
                    </a:p>
                  </a:txBody>
                  <a:tcPr/>
                </a:tc>
                <a:tc>
                  <a:txBody>
                    <a:bodyPr/>
                    <a:lstStyle/>
                    <a:p>
                      <a:pPr>
                        <a:buNone/>
                      </a:pPr>
                      <a:r>
                        <a:rPr lang="en-US" dirty="0"/>
                        <a:t>M. Srinitha</a:t>
                      </a:r>
                    </a:p>
                  </a:txBody>
                  <a:tcPr/>
                </a:tc>
                <a:tc>
                  <a:txBody>
                    <a:bodyPr/>
                    <a:lstStyle/>
                    <a:p>
                      <a:pPr>
                        <a:buNone/>
                      </a:pPr>
                      <a:r>
                        <a:rPr lang="en-US" dirty="0"/>
                        <a:t>2203A52201</a:t>
                      </a:r>
                    </a:p>
                  </a:txBody>
                  <a:tcPr/>
                </a:tc>
                <a:extLst>
                  <a:ext uri="{0D108BD9-81ED-4DB2-BD59-A6C34878D82A}">
                    <a16:rowId xmlns:a16="http://schemas.microsoft.com/office/drawing/2014/main" val="10002"/>
                  </a:ext>
                </a:extLst>
              </a:tr>
              <a:tr h="894972">
                <a:tc>
                  <a:txBody>
                    <a:bodyPr/>
                    <a:lstStyle/>
                    <a:p>
                      <a:pPr>
                        <a:buNone/>
                      </a:pPr>
                      <a:r>
                        <a:rPr lang="en-US"/>
                        <a:t>3</a:t>
                      </a:r>
                    </a:p>
                  </a:txBody>
                  <a:tcPr/>
                </a:tc>
                <a:tc>
                  <a:txBody>
                    <a:bodyPr/>
                    <a:lstStyle/>
                    <a:p>
                      <a:pPr>
                        <a:buNone/>
                      </a:pPr>
                      <a:r>
                        <a:rPr lang="en-US" dirty="0"/>
                        <a:t>V. Lasya</a:t>
                      </a:r>
                    </a:p>
                  </a:txBody>
                  <a:tcPr/>
                </a:tc>
                <a:tc>
                  <a:txBody>
                    <a:bodyPr/>
                    <a:lstStyle/>
                    <a:p>
                      <a:pPr>
                        <a:buNone/>
                      </a:pPr>
                      <a:r>
                        <a:rPr lang="en-US" dirty="0"/>
                        <a:t>2203A52204</a:t>
                      </a:r>
                    </a:p>
                  </a:txBody>
                  <a:tcPr/>
                </a:tc>
                <a:extLst>
                  <a:ext uri="{0D108BD9-81ED-4DB2-BD59-A6C34878D82A}">
                    <a16:rowId xmlns:a16="http://schemas.microsoft.com/office/drawing/2014/main" val="10003"/>
                  </a:ext>
                </a:extLst>
              </a:tr>
              <a:tr h="894972">
                <a:tc>
                  <a:txBody>
                    <a:bodyPr/>
                    <a:lstStyle/>
                    <a:p>
                      <a:pPr>
                        <a:buNone/>
                      </a:pPr>
                      <a:r>
                        <a:rPr lang="en-US"/>
                        <a:t>4</a:t>
                      </a:r>
                    </a:p>
                  </a:txBody>
                  <a:tcPr/>
                </a:tc>
                <a:tc>
                  <a:txBody>
                    <a:bodyPr/>
                    <a:lstStyle/>
                    <a:p>
                      <a:pPr>
                        <a:buNone/>
                      </a:pPr>
                      <a:r>
                        <a:rPr lang="en-US" dirty="0"/>
                        <a:t>M. </a:t>
                      </a:r>
                      <a:r>
                        <a:rPr lang="en-US"/>
                        <a:t>Vishvaksena</a:t>
                      </a:r>
                      <a:endParaRPr lang="en-US" dirty="0"/>
                    </a:p>
                  </a:txBody>
                  <a:tcPr/>
                </a:tc>
                <a:tc>
                  <a:txBody>
                    <a:bodyPr/>
                    <a:lstStyle/>
                    <a:p>
                      <a:pPr>
                        <a:buNone/>
                      </a:pPr>
                      <a:r>
                        <a:rPr lang="en-US" dirty="0"/>
                        <a:t>2203A52207</a:t>
                      </a:r>
                    </a:p>
                  </a:txBody>
                  <a:tcPr/>
                </a:tc>
                <a:extLst>
                  <a:ext uri="{0D108BD9-81ED-4DB2-BD59-A6C34878D82A}">
                    <a16:rowId xmlns:a16="http://schemas.microsoft.com/office/drawing/2014/main" val="10004"/>
                  </a:ext>
                </a:extLst>
              </a:tr>
              <a:tr h="894972">
                <a:tc>
                  <a:txBody>
                    <a:bodyPr/>
                    <a:lstStyle/>
                    <a:p>
                      <a:pPr>
                        <a:buNone/>
                      </a:pPr>
                      <a:r>
                        <a:rPr lang="en-US" dirty="0"/>
                        <a:t>5</a:t>
                      </a:r>
                    </a:p>
                    <a:p>
                      <a:pPr>
                        <a:buNone/>
                      </a:pPr>
                      <a:endParaRPr lang="en-US" dirty="0"/>
                    </a:p>
                    <a:p>
                      <a:pPr>
                        <a:buNone/>
                      </a:pPr>
                      <a:endParaRPr lang="en-US" dirty="0"/>
                    </a:p>
                    <a:p>
                      <a:pPr>
                        <a:buNone/>
                      </a:pPr>
                      <a:r>
                        <a:rPr lang="en-US" dirty="0"/>
                        <a:t>6</a:t>
                      </a:r>
                    </a:p>
                  </a:txBody>
                  <a:tcPr/>
                </a:tc>
                <a:tc>
                  <a:txBody>
                    <a:bodyPr/>
                    <a:lstStyle/>
                    <a:p>
                      <a:pPr>
                        <a:buNone/>
                      </a:pPr>
                      <a:r>
                        <a:rPr lang="en-US" sz="1800" b="0" dirty="0">
                          <a:solidFill>
                            <a:schemeClr val="bg2">
                              <a:lumMod val="10000"/>
                            </a:schemeClr>
                          </a:solidFill>
                          <a:sym typeface="+mn-ea"/>
                        </a:rPr>
                        <a:t>K. Ranadheer Reddy</a:t>
                      </a:r>
                    </a:p>
                    <a:p>
                      <a:pPr>
                        <a:buNone/>
                      </a:pPr>
                      <a:endParaRPr lang="en-US" sz="1800" b="0" dirty="0">
                        <a:solidFill>
                          <a:schemeClr val="bg2">
                            <a:lumMod val="10000"/>
                          </a:schemeClr>
                        </a:solidFill>
                        <a:sym typeface="+mn-ea"/>
                      </a:endParaRPr>
                    </a:p>
                    <a:p>
                      <a:pPr>
                        <a:buNone/>
                      </a:pPr>
                      <a:endParaRPr lang="en-US" sz="1800" b="0" dirty="0">
                        <a:solidFill>
                          <a:schemeClr val="bg2">
                            <a:lumMod val="10000"/>
                          </a:schemeClr>
                        </a:solidFill>
                        <a:sym typeface="+mn-ea"/>
                      </a:endParaRPr>
                    </a:p>
                    <a:p>
                      <a:pPr>
                        <a:buNone/>
                      </a:pPr>
                      <a:r>
                        <a:rPr lang="en-US" sz="1800" b="0" dirty="0">
                          <a:solidFill>
                            <a:schemeClr val="bg2">
                              <a:lumMod val="10000"/>
                            </a:schemeClr>
                          </a:solidFill>
                          <a:sym typeface="+mn-ea"/>
                        </a:rPr>
                        <a:t>B. </a:t>
                      </a:r>
                      <a:r>
                        <a:rPr lang="en-US" sz="1800" b="0" dirty="0" err="1">
                          <a:solidFill>
                            <a:schemeClr val="bg2">
                              <a:lumMod val="10000"/>
                            </a:schemeClr>
                          </a:solidFill>
                          <a:sym typeface="+mn-ea"/>
                        </a:rPr>
                        <a:t>Prason</a:t>
                      </a:r>
                      <a:r>
                        <a:rPr lang="en-US" sz="1800" b="0" dirty="0">
                          <a:solidFill>
                            <a:schemeClr val="bg2">
                              <a:lumMod val="10000"/>
                            </a:schemeClr>
                          </a:solidFill>
                          <a:sym typeface="+mn-ea"/>
                        </a:rPr>
                        <a:t> Paul</a:t>
                      </a:r>
                      <a:endParaRPr lang="en-US" sz="1800" b="0" dirty="0">
                        <a:solidFill>
                          <a:schemeClr val="bg2">
                            <a:lumMod val="10000"/>
                          </a:schemeClr>
                        </a:solidFill>
                      </a:endParaRPr>
                    </a:p>
                    <a:p>
                      <a:pPr>
                        <a:buNone/>
                      </a:pPr>
                      <a:endParaRPr lang="en-US" b="0" dirty="0"/>
                    </a:p>
                  </a:txBody>
                  <a:tcPr/>
                </a:tc>
                <a:tc>
                  <a:txBody>
                    <a:bodyPr/>
                    <a:lstStyle/>
                    <a:p>
                      <a:pPr>
                        <a:buNone/>
                      </a:pPr>
                      <a:r>
                        <a:rPr lang="en-US" dirty="0"/>
                        <a:t>2203A52153</a:t>
                      </a:r>
                    </a:p>
                    <a:p>
                      <a:pPr>
                        <a:buNone/>
                      </a:pPr>
                      <a:endParaRPr lang="en-US" dirty="0"/>
                    </a:p>
                    <a:p>
                      <a:pPr>
                        <a:buNone/>
                      </a:pPr>
                      <a:endParaRPr lang="en-US" dirty="0"/>
                    </a:p>
                    <a:p>
                      <a:pPr>
                        <a:buNone/>
                      </a:pPr>
                      <a:r>
                        <a:rPr lang="en-US" dirty="0"/>
                        <a:t>2203A52240</a:t>
                      </a:r>
                    </a:p>
                  </a:txBody>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756988" y="2730500"/>
            <a:ext cx="6336030" cy="180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cs typeface="Hubot-Sans" charset="0"/>
              <a:sym typeface="+mn-ea"/>
            </a:endParaRPr>
          </a:p>
          <a:p>
            <a:pPr algn="ctr"/>
            <a:r>
              <a:rPr lang="en-US" altLang="zh-CN" sz="2100" dirty="0">
                <a:cs typeface="Hubot-Sans" charset="0"/>
              </a:rPr>
              <a:t>Brain Tumor MRI Image Classification with XAI</a:t>
            </a:r>
          </a:p>
          <a:p>
            <a:pPr algn="ctr"/>
            <a:endParaRPr lang="en-US" altLang="zh-CN" sz="2100" dirty="0">
              <a:cs typeface="Hubot-Sans" charset="0"/>
            </a:endParaRPr>
          </a:p>
        </p:txBody>
      </p:sp>
      <p:grpSp>
        <p:nvGrpSpPr>
          <p:cNvPr id="10" name="组合 9"/>
          <p:cNvGrpSpPr/>
          <p:nvPr/>
        </p:nvGrpSpPr>
        <p:grpSpPr>
          <a:xfrm>
            <a:off x="4605655" y="3032760"/>
            <a:ext cx="7586345" cy="1198880"/>
            <a:chOff x="-2412" y="3864"/>
            <a:chExt cx="11947" cy="1888"/>
          </a:xfrm>
        </p:grpSpPr>
        <p:sp>
          <p:nvSpPr>
            <p:cNvPr id="11" name="文本框 10"/>
            <p:cNvSpPr txBox="1"/>
            <p:nvPr/>
          </p:nvSpPr>
          <p:spPr>
            <a:xfrm>
              <a:off x="-2412" y="5064"/>
              <a:ext cx="10171" cy="386"/>
            </a:xfrm>
            <a:prstGeom prst="rect">
              <a:avLst/>
            </a:prstGeom>
            <a:noFill/>
          </p:spPr>
          <p:txBody>
            <a:bodyPr wrap="square" rtlCol="0" anchor="ctr" anchorCtr="0">
              <a:spAutoFit/>
            </a:bodyPr>
            <a:lstStyle/>
            <a:p>
              <a:pPr algn="r" fontAlgn="ctr">
                <a:lnSpc>
                  <a:spcPct val="100000"/>
                </a:lnSpc>
              </a:pPr>
              <a:endParaRPr lang="zh-CN" altLang="en-US" sz="1000">
                <a:solidFill>
                  <a:schemeClr val="bg1">
                    <a:alpha val="50000"/>
                  </a:schemeClr>
                </a:solidFill>
                <a:latin typeface="Hubot-Sans" charset="0"/>
                <a:ea typeface="Hubot-Sans" charset="0"/>
                <a:cs typeface="Hubot-Sans" charset="0"/>
              </a:endParaRPr>
            </a:p>
          </p:txBody>
        </p:sp>
        <p:sp>
          <p:nvSpPr>
            <p:cNvPr id="12" name="文本框 11"/>
            <p:cNvSpPr txBox="1"/>
            <p:nvPr/>
          </p:nvSpPr>
          <p:spPr>
            <a:xfrm>
              <a:off x="5724" y="3864"/>
              <a:ext cx="3811" cy="1888"/>
            </a:xfrm>
            <a:prstGeom prst="rect">
              <a:avLst/>
            </a:prstGeom>
            <a:noFill/>
          </p:spPr>
          <p:txBody>
            <a:bodyPr wrap="square" rtlCol="0" anchor="ctr" anchorCtr="0">
              <a:spAutoFit/>
            </a:bodyPr>
            <a:lstStyle/>
            <a:p>
              <a:pPr algn="r" fontAlgn="ctr">
                <a:lnSpc>
                  <a:spcPct val="100000"/>
                </a:lnSpc>
              </a:pPr>
              <a:endParaRPr lang="en-US" altLang="zh-CN" sz="7200" b="1">
                <a:solidFill>
                  <a:schemeClr val="bg1"/>
                </a:solidFill>
                <a:latin typeface="Hubot-Sans" charset="0"/>
                <a:ea typeface="Hubot-Sans" charset="0"/>
                <a:cs typeface="Hubot-Sans" charset="0"/>
              </a:endParaRPr>
            </a:p>
          </p:txBody>
        </p:sp>
      </p:grpSp>
      <p:pic>
        <p:nvPicPr>
          <p:cNvPr id="1027" name="Picture 3" descr="Brain Tumor - Dr. ReshmaPuranik">
            <a:extLst>
              <a:ext uri="{FF2B5EF4-FFF2-40B4-BE49-F238E27FC236}">
                <a16:creationId xmlns:a16="http://schemas.microsoft.com/office/drawing/2014/main" id="{6BCB2237-2A7D-D761-1684-75F996F8E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75385"/>
            <a:ext cx="5756988" cy="52387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989965" y="608330"/>
            <a:ext cx="10587355" cy="705485"/>
          </a:xfrm>
        </p:spPr>
        <p:txBody>
          <a:bodyPr>
            <a:normAutofit/>
          </a:bodyPr>
          <a:lstStyle/>
          <a:p>
            <a:r>
              <a:rPr lang="en-US"/>
              <a:t>INTRODUCTION:</a:t>
            </a:r>
          </a:p>
        </p:txBody>
      </p:sp>
      <p:sp>
        <p:nvSpPr>
          <p:cNvPr id="3" name="Content Placeholder 2"/>
          <p:cNvSpPr>
            <a:spLocks noGrp="1"/>
          </p:cNvSpPr>
          <p:nvPr>
            <p:ph idx="1"/>
            <p:custDataLst>
              <p:tags r:id="rId2"/>
            </p:custDataLst>
          </p:nvPr>
        </p:nvSpPr>
        <p:spPr/>
        <p:txBody>
          <a:bodyPr>
            <a:normAutofit fontScale="62500" lnSpcReduction="20000"/>
          </a:bodyPr>
          <a:lstStyle/>
          <a:p>
            <a:pPr marL="0" indent="0">
              <a:buNone/>
            </a:pPr>
            <a:r>
              <a:rPr lang="en-US" sz="3600" dirty="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The brain tumors are severe neurological conditions that need proper and prompt diagnosis. The MRI method is the best imaging method used to determine the abnormalities in the brain yet manual diagnosis is time consuming and can be easily subject to human </a:t>
            </a:r>
            <a:r>
              <a:rPr lang="en-US" sz="3600" dirty="0" err="1">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error.Deep</a:t>
            </a:r>
            <a:r>
              <a:rPr lang="en-US" sz="3600" dirty="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 Learning (DL) models such as CNNs are capable of automatically classifying the learners of brain tumors Glioma, Meningioma, Pituitary, and Healthy Brain with high accuracy. Nevertheless, these models tend to be black boxes whereby doctors are not able to trust their </a:t>
            </a:r>
            <a:r>
              <a:rPr lang="en-US" sz="3600" dirty="0" err="1">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decisions.To</a:t>
            </a:r>
            <a:r>
              <a:rPr lang="en-US" sz="3600" dirty="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 address this, the project incorporates the Explainable Artificial Intelligence (XAI) algorithms like Grad-CAM and Integrated Gradients to enable the model to be transparent and intelligible in making predictions. This guarantees accuracy and clinical confidence to aid the radiologists in making sound decisions.</a:t>
            </a:r>
          </a:p>
        </p:txBody>
      </p:sp>
      <p:grpSp>
        <p:nvGrpSpPr>
          <p:cNvPr id="9" name="组合 8"/>
          <p:cNvGrpSpPr/>
          <p:nvPr/>
        </p:nvGrpSpPr>
        <p:grpSpPr>
          <a:xfrm>
            <a:off x="456982" y="687734"/>
            <a:ext cx="414194" cy="434732"/>
            <a:chOff x="457617" y="504219"/>
            <a:chExt cx="414194" cy="434732"/>
          </a:xfrm>
        </p:grpSpPr>
        <p:sp>
          <p:nvSpPr>
            <p:cNvPr id="14" name="圆角矩形 13"/>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5" name="圆角矩形 14"/>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p:cNvSpPr txBox="1">
            <a:spLocks noChangeArrowheads="1"/>
          </p:cNvSpPr>
          <p:nvPr/>
        </p:nvSpPr>
        <p:spPr bwMode="auto">
          <a:xfrm>
            <a:off x="3242310" y="3112770"/>
            <a:ext cx="24003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Microsoft YaHei" panose="020B0503020204020204" pitchFamily="34" charset="-122"/>
              </a:defRPr>
            </a:lvl1pPr>
            <a:lvl2pPr marL="742950" indent="-285750" defTabSz="1216025">
              <a:defRPr>
                <a:solidFill>
                  <a:schemeClr val="tx1"/>
                </a:solidFill>
                <a:latin typeface="Arial" panose="020B0604020202020204" pitchFamily="34" charset="0"/>
                <a:ea typeface="Microsoft YaHei" panose="020B0503020204020204" pitchFamily="34" charset="-122"/>
              </a:defRPr>
            </a:lvl2pPr>
            <a:lvl3pPr marL="1143000" indent="-228600" defTabSz="1216025">
              <a:defRPr>
                <a:solidFill>
                  <a:schemeClr val="tx1"/>
                </a:solidFill>
                <a:latin typeface="Arial" panose="020B0604020202020204" pitchFamily="34" charset="0"/>
                <a:ea typeface="Microsoft YaHei" panose="020B0503020204020204" pitchFamily="34" charset="-122"/>
              </a:defRPr>
            </a:lvl3pPr>
            <a:lvl4pPr marL="1600200" indent="-228600" defTabSz="1216025">
              <a:defRPr>
                <a:solidFill>
                  <a:schemeClr val="tx1"/>
                </a:solidFill>
                <a:latin typeface="Arial" panose="020B0604020202020204" pitchFamily="34" charset="0"/>
                <a:ea typeface="Microsoft YaHei" panose="020B0503020204020204" pitchFamily="34" charset="-122"/>
              </a:defRPr>
            </a:lvl4pPr>
            <a:lvl5pPr marL="2057400" indent="-228600" defTabSz="1216025">
              <a:defRPr>
                <a:solidFill>
                  <a:schemeClr val="tx1"/>
                </a:solidFill>
                <a:latin typeface="Arial" panose="020B0604020202020204" pitchFamily="34" charset="0"/>
                <a:ea typeface="Microsoft YaHei"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9pPr>
          </a:lstStyle>
          <a:p>
            <a:pPr marL="0" marR="0" lvl="0" indent="0" algn="l" defTabSz="1216025" rtl="0" eaLnBrk="1" fontAlgn="auto" latinLnBrk="0" hangingPunct="1">
              <a:lnSpc>
                <a:spcPct val="100000"/>
              </a:lnSpc>
              <a:spcBef>
                <a:spcPct val="20000"/>
              </a:spcBef>
              <a:spcAft>
                <a:spcPts val="0"/>
              </a:spcAft>
              <a:buClrTx/>
              <a:buSzTx/>
              <a:buFontTx/>
              <a:buNone/>
              <a:defRPr/>
            </a:pPr>
            <a:endParaRPr lang="zh-CN" altLang="en-US" sz="2400" dirty="0">
              <a:solidFill>
                <a:srgbClr val="FFFFFE"/>
              </a:solidFill>
              <a:latin typeface="Hubot-Sans" charset="0"/>
              <a:ea typeface="Hubot-Sans" charset="0"/>
              <a:cs typeface="Hubot-Sans" charset="0"/>
              <a:sym typeface="+mn-lt"/>
            </a:endParaRPr>
          </a:p>
        </p:txBody>
      </p:sp>
      <p:sp>
        <p:nvSpPr>
          <p:cNvPr id="6" name="1"/>
          <p:cNvSpPr txBox="1">
            <a:spLocks noChangeArrowheads="1"/>
          </p:cNvSpPr>
          <p:nvPr/>
        </p:nvSpPr>
        <p:spPr bwMode="auto">
          <a:xfrm>
            <a:off x="457834" y="1601470"/>
            <a:ext cx="5530389" cy="473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Arial" panose="020B0604020202020204" pitchFamily="34" charset="0"/>
                <a:ea typeface="Microsoft YaHei" panose="020B0503020204020204" pitchFamily="34" charset="-122"/>
              </a:defRPr>
            </a:lvl1pPr>
            <a:lvl2pPr marL="742950" indent="-285750" defTabSz="1216025">
              <a:defRPr>
                <a:solidFill>
                  <a:schemeClr val="tx1"/>
                </a:solidFill>
                <a:latin typeface="Arial" panose="020B0604020202020204" pitchFamily="34" charset="0"/>
                <a:ea typeface="Microsoft YaHei" panose="020B0503020204020204" pitchFamily="34" charset="-122"/>
              </a:defRPr>
            </a:lvl2pPr>
            <a:lvl3pPr marL="1143000" indent="-228600" defTabSz="1216025">
              <a:defRPr>
                <a:solidFill>
                  <a:schemeClr val="tx1"/>
                </a:solidFill>
                <a:latin typeface="Arial" panose="020B0604020202020204" pitchFamily="34" charset="0"/>
                <a:ea typeface="Microsoft YaHei" panose="020B0503020204020204" pitchFamily="34" charset="-122"/>
              </a:defRPr>
            </a:lvl3pPr>
            <a:lvl4pPr marL="1600200" indent="-228600" defTabSz="1216025">
              <a:defRPr>
                <a:solidFill>
                  <a:schemeClr val="tx1"/>
                </a:solidFill>
                <a:latin typeface="Arial" panose="020B0604020202020204" pitchFamily="34" charset="0"/>
                <a:ea typeface="Microsoft YaHei" panose="020B0503020204020204" pitchFamily="34" charset="-122"/>
              </a:defRPr>
            </a:lvl4pPr>
            <a:lvl5pPr marL="2057400" indent="-228600" defTabSz="1216025">
              <a:defRPr>
                <a:solidFill>
                  <a:schemeClr val="tx1"/>
                </a:solidFill>
                <a:latin typeface="Arial" panose="020B0604020202020204" pitchFamily="34" charset="0"/>
                <a:ea typeface="Microsoft YaHei"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Microsoft YaHei" panose="020B0503020204020204" pitchFamily="34" charset="-122"/>
              </a:defRPr>
            </a:lvl9pPr>
          </a:lstStyle>
          <a:p>
            <a:pPr>
              <a:lnSpc>
                <a:spcPct val="150000"/>
              </a:lnSpc>
              <a:defRPr/>
            </a:pPr>
            <a:r>
              <a:rPr lang="en-US" altLang="en-US" sz="1600" dirty="0">
                <a:latin typeface="Hubot-Sans" charset="0"/>
                <a:ea typeface="Hubot-Sans" charset="0"/>
                <a:cs typeface="Hubot-Sans" charset="0"/>
                <a:sym typeface="+mn-lt"/>
              </a:rPr>
              <a:t>The interpretation of MRI scans to reveal brain tumors is a manual process that is lengthy, labor intensive and is subject to diagnostic error as it is limited to human interpretation. Deep Learning models are black-box systems, which provide predictions without the rationale of how it was obtained although they are highly accurate at classifying MRI images. This is not very transparent, which restricts the clinically adopted use and confidence of radiologists. Thus, an Explainable AI (XAI)-based system that can not only properly classify brain tumors but also visualize and explain its decisions in a way that will facilitate safe and comprehensible medical diagnosis is needed.</a:t>
            </a:r>
            <a:endParaRPr kumimoji="0" lang="en-US" altLang="en-US" sz="1600" b="0" i="0" u="none" strike="noStrike" cap="none" spc="0" normalizeH="0" baseline="0" dirty="0">
              <a:solidFill>
                <a:schemeClr val="tx1"/>
              </a:solidFill>
              <a:latin typeface="Hubot-Sans" charset="0"/>
              <a:ea typeface="Hubot-Sans" charset="0"/>
              <a:cs typeface="Hubot-Sans" charset="0"/>
              <a:sym typeface="+mn-lt"/>
            </a:endParaRPr>
          </a:p>
        </p:txBody>
      </p:sp>
      <p:sp>
        <p:nvSpPr>
          <p:cNvPr id="8" name="文本框 7"/>
          <p:cNvSpPr txBox="1"/>
          <p:nvPr/>
        </p:nvSpPr>
        <p:spPr>
          <a:xfrm>
            <a:off x="1021715" y="522605"/>
            <a:ext cx="44900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PROBLEM STATEMENT</a:t>
            </a:r>
          </a:p>
        </p:txBody>
      </p:sp>
      <p:grpSp>
        <p:nvGrpSpPr>
          <p:cNvPr id="9" name="组合 8"/>
          <p:cNvGrpSpPr/>
          <p:nvPr/>
        </p:nvGrpSpPr>
        <p:grpSpPr>
          <a:xfrm>
            <a:off x="457617" y="504219"/>
            <a:ext cx="414194" cy="434732"/>
            <a:chOff x="457617" y="504219"/>
            <a:chExt cx="414194" cy="434732"/>
          </a:xfrm>
        </p:grpSpPr>
        <p:sp>
          <p:nvSpPr>
            <p:cNvPr id="14" name="圆角矩形 13"/>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5" name="圆角矩形 14"/>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pic>
        <p:nvPicPr>
          <p:cNvPr id="3074" name="Picture 2" descr="40+ Thousand Brain Cancer Royalty-Free Images, Stock Photos &amp; Pictures |  Shutterstock">
            <a:extLst>
              <a:ext uri="{FF2B5EF4-FFF2-40B4-BE49-F238E27FC236}">
                <a16:creationId xmlns:a16="http://schemas.microsoft.com/office/drawing/2014/main" id="{6DCB3078-7AFD-9144-5BA5-779C4D246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083" y="938951"/>
            <a:ext cx="5754053" cy="5715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952189" y="383241"/>
            <a:ext cx="10457180" cy="705485"/>
          </a:xfrm>
        </p:spPr>
        <p:txBody>
          <a:bodyPr/>
          <a:lstStyle/>
          <a:p>
            <a:r>
              <a:rPr lang="en-US" dirty="0"/>
              <a:t>OBJECTIVES &amp; MOTIVATION</a:t>
            </a:r>
          </a:p>
        </p:txBody>
      </p:sp>
      <p:sp>
        <p:nvSpPr>
          <p:cNvPr id="3" name="Content Placeholder 2"/>
          <p:cNvSpPr>
            <a:spLocks noGrp="1"/>
          </p:cNvSpPr>
          <p:nvPr>
            <p:ph idx="1"/>
            <p:custDataLst>
              <p:tags r:id="rId3"/>
            </p:custDataLst>
          </p:nvPr>
        </p:nvSpPr>
        <p:spPr>
          <a:xfrm>
            <a:off x="599004" y="1088726"/>
            <a:ext cx="11133658" cy="5769274"/>
          </a:xfrm>
        </p:spPr>
        <p:txBody>
          <a:bodyPr>
            <a:noAutofit/>
          </a:bodyPr>
          <a:lstStyle/>
          <a:p>
            <a:pPr marL="0" indent="0">
              <a:lnSpc>
                <a:spcPct val="100000"/>
              </a:lnSpc>
              <a:buNone/>
            </a:pPr>
            <a:r>
              <a:rPr lang="en-US" sz="2400" b="1" dirty="0">
                <a:solidFill>
                  <a:schemeClr val="tx1"/>
                </a:solidFill>
                <a:latin typeface="Times New Roman" panose="02020603050405020304" charset="0"/>
                <a:cs typeface="Times New Roman" panose="02020603050405020304" charset="0"/>
              </a:rPr>
              <a:t>Objectives:</a:t>
            </a:r>
          </a:p>
          <a:p>
            <a:pPr>
              <a:lnSpc>
                <a:spcPct val="100000"/>
              </a:lnSpc>
              <a:defRPr sz="2000"/>
            </a:pPr>
            <a:r>
              <a:rPr sz="2000" dirty="0">
                <a:solidFill>
                  <a:schemeClr val="tx1"/>
                </a:solidFill>
                <a:latin typeface="Times New Roman" panose="02020603050405020304" charset="0"/>
                <a:cs typeface="Times New Roman" panose="02020603050405020304" charset="0"/>
                <a:sym typeface="+mn-ea"/>
              </a:rPr>
              <a:t>1</a:t>
            </a:r>
            <a:r>
              <a:rPr dirty="0">
                <a:solidFill>
                  <a:schemeClr val="tx1"/>
                </a:solidFill>
                <a:latin typeface="Times New Roman" panose="02020603050405020304" charset="0"/>
                <a:cs typeface="Times New Roman" panose="02020603050405020304" charset="0"/>
                <a:sym typeface="+mn-ea"/>
              </a:rPr>
              <a:t>. </a:t>
            </a:r>
            <a:r>
              <a:rPr lang="en-US" dirty="0">
                <a:solidFill>
                  <a:schemeClr val="tx1"/>
                </a:solidFill>
                <a:latin typeface="Times New Roman" panose="02020603050405020304" charset="0"/>
                <a:cs typeface="Times New Roman" panose="02020603050405020304" charset="0"/>
                <a:sym typeface="+mn-ea"/>
              </a:rPr>
              <a:t>In order to create a Deep Learning model to differentiate between Glioma, Meningioma, Pituitary and Healthy Brain based on the brain MRI scans</a:t>
            </a:r>
            <a:r>
              <a:rPr lang="en-US" sz="2400" dirty="0">
                <a:solidFill>
                  <a:schemeClr val="tx1"/>
                </a:solidFill>
                <a:latin typeface="Times New Roman" panose="02020603050405020304" charset="0"/>
                <a:cs typeface="Times New Roman" panose="02020603050405020304" charset="0"/>
                <a:sym typeface="+mn-ea"/>
              </a:rPr>
              <a:t>.</a:t>
            </a:r>
          </a:p>
          <a:p>
            <a:pPr>
              <a:lnSpc>
                <a:spcPct val="100000"/>
              </a:lnSpc>
              <a:defRPr sz="2000"/>
            </a:pPr>
            <a:r>
              <a:rPr lang="en-US" sz="2000" dirty="0">
                <a:solidFill>
                  <a:schemeClr val="tx1"/>
                </a:solidFill>
                <a:latin typeface="Times New Roman" panose="02020603050405020304" charset="0"/>
                <a:cs typeface="Times New Roman" panose="02020603050405020304" charset="0"/>
                <a:sym typeface="+mn-ea"/>
              </a:rPr>
              <a:t>2. To incorporate Explainable AI (XAI) methods Grad-CAM and Integrated Gradients Transparency of a model.</a:t>
            </a:r>
          </a:p>
          <a:p>
            <a:pPr>
              <a:lnSpc>
                <a:spcPct val="100000"/>
              </a:lnSpc>
              <a:defRPr sz="2000"/>
            </a:pPr>
            <a:r>
              <a:rPr lang="en-US" sz="2000" dirty="0">
                <a:solidFill>
                  <a:schemeClr val="tx1"/>
                </a:solidFill>
                <a:latin typeface="Times New Roman" panose="02020603050405020304" charset="0"/>
                <a:cs typeface="Times New Roman" panose="02020603050405020304" charset="0"/>
                <a:sym typeface="+mn-ea"/>
              </a:rPr>
              <a:t>3. To produce heatmaps that show regions of tumors that affect the prediction in the models.</a:t>
            </a:r>
          </a:p>
          <a:p>
            <a:pPr>
              <a:lnSpc>
                <a:spcPct val="100000"/>
              </a:lnSpc>
              <a:defRPr sz="2000"/>
            </a:pPr>
            <a:r>
              <a:rPr lang="en-US" sz="2000" dirty="0">
                <a:solidFill>
                  <a:schemeClr val="tx1"/>
                </a:solidFill>
                <a:latin typeface="Times New Roman" panose="02020603050405020304" charset="0"/>
                <a:cs typeface="Times New Roman" panose="02020603050405020304" charset="0"/>
                <a:sym typeface="+mn-ea"/>
              </a:rPr>
              <a:t>4. In order to assess model performance in terms of Accuracy, Precision, Recall, F1-score, and ROC-AUC measures.</a:t>
            </a:r>
          </a:p>
          <a:p>
            <a:pPr marL="0" indent="0">
              <a:lnSpc>
                <a:spcPct val="100000"/>
              </a:lnSpc>
              <a:buNone/>
            </a:pPr>
            <a:r>
              <a:rPr lang="en-US" sz="2000" b="1" dirty="0">
                <a:solidFill>
                  <a:schemeClr val="tx1"/>
                </a:solidFill>
                <a:latin typeface="Times New Roman" panose="02020603050405020304" charset="0"/>
                <a:cs typeface="Times New Roman" panose="02020603050405020304" charset="0"/>
              </a:rPr>
              <a:t>Motivation:</a:t>
            </a:r>
          </a:p>
          <a:p>
            <a:pPr marL="0" indent="0">
              <a:lnSpc>
                <a:spcPct val="100000"/>
              </a:lnSpc>
              <a:buNone/>
            </a:pPr>
            <a:r>
              <a:rPr lang="en-US" sz="2000" dirty="0">
                <a:solidFill>
                  <a:schemeClr val="tx1"/>
                </a:solidFill>
                <a:latin typeface="Times New Roman" panose="02020603050405020304" charset="0"/>
                <a:cs typeface="Times New Roman" panose="02020603050405020304" charset="0"/>
                <a:sym typeface="+mn-ea"/>
              </a:rPr>
              <a:t>Timely and proper diagnosis of brain tumors is the key to successful treatment and survival of the patient. Old-fashioned diagnostic techniques are usually slow and subjective, whereas new Deep Learning solutions, despite being powerful in nature, are not interpretable. This project focuses on developing a system that is able to not only identify tumors effectively but also justify why it did it filling the gap between AI and clinical trust in the system.</a:t>
            </a:r>
            <a:endParaRPr lang="en-US" sz="2400" dirty="0">
              <a:solidFill>
                <a:schemeClr val="tx1"/>
              </a:solidFill>
              <a:latin typeface="Times New Roman" panose="02020603050405020304" charset="0"/>
              <a:cs typeface="Times New Roman" panose="02020603050405020304" charset="0"/>
              <a:sym typeface="+mn-ea"/>
            </a:endParaRPr>
          </a:p>
        </p:txBody>
      </p:sp>
      <p:grpSp>
        <p:nvGrpSpPr>
          <p:cNvPr id="11" name="组合 10"/>
          <p:cNvGrpSpPr/>
          <p:nvPr/>
        </p:nvGrpSpPr>
        <p:grpSpPr>
          <a:xfrm>
            <a:off x="368437" y="448720"/>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099820" y="608330"/>
            <a:ext cx="10477500" cy="705485"/>
          </a:xfrm>
        </p:spPr>
        <p:txBody>
          <a:bodyPr>
            <a:normAutofit/>
          </a:bodyPr>
          <a:lstStyle/>
          <a:p>
            <a:r>
              <a:rPr lang="en-US"/>
              <a:t>PROPOSED SYSTEM OVERVIEW:</a:t>
            </a:r>
          </a:p>
        </p:txBody>
      </p:sp>
      <p:sp>
        <p:nvSpPr>
          <p:cNvPr id="3" name="Content Placeholder 2"/>
          <p:cNvSpPr>
            <a:spLocks noGrp="1"/>
          </p:cNvSpPr>
          <p:nvPr>
            <p:ph idx="1"/>
            <p:custDataLst>
              <p:tags r:id="rId3"/>
            </p:custDataLst>
          </p:nvPr>
        </p:nvSpPr>
        <p:spPr/>
        <p:txBody>
          <a:bodyPr>
            <a:noAutofit/>
          </a:bodyPr>
          <a:lstStyle/>
          <a:p>
            <a:pPr marL="0" indent="0">
              <a:lnSpc>
                <a:spcPct val="100000"/>
              </a:lnSpc>
              <a:buNone/>
            </a:pPr>
            <a:r>
              <a:rPr lang="en-US" sz="2800" dirty="0"/>
              <a:t>It locates brain MRI images of Glioma, Meningioma, Pituitary and Healthy Brain through the Deep Learning-based CNN model with the Explainable AI (XAI) techniques. Before MRI images are trained, normalization, resizing and augmentation are performed. The heatmaps produced with the help of Grad-CAM and Integrated Gradients are able to show the regions of the tumor that influence predictions, make the model more transparent, trustworthy, and clinically interpretable.</a:t>
            </a:r>
            <a:endParaRPr lang="en-US" sz="2800" dirty="0">
              <a:solidFill>
                <a:schemeClr val="tx1"/>
              </a:solidFill>
              <a:latin typeface="Times New Roman" panose="02020603050405020304" charset="0"/>
              <a:cs typeface="Times New Roman" panose="02020603050405020304" charset="0"/>
              <a:sym typeface="+mn-ea"/>
            </a:endParaRPr>
          </a:p>
        </p:txBody>
      </p:sp>
      <p:grpSp>
        <p:nvGrpSpPr>
          <p:cNvPr id="11" name="组合 10"/>
          <p:cNvGrpSpPr/>
          <p:nvPr/>
        </p:nvGrpSpPr>
        <p:grpSpPr>
          <a:xfrm>
            <a:off x="457617" y="67185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23010"/>
            <a:ext cx="6184900" cy="56349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Hubot-Sans" charset="0"/>
            </a:endParaRPr>
          </a:p>
        </p:txBody>
      </p:sp>
      <p:sp>
        <p:nvSpPr>
          <p:cNvPr id="32" name="矩形 31"/>
          <p:cNvSpPr/>
          <p:nvPr/>
        </p:nvSpPr>
        <p:spPr>
          <a:xfrm>
            <a:off x="8153400" y="1768386"/>
            <a:ext cx="4038600" cy="28380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Hubot-Sans" charset="0"/>
            </a:endParaRPr>
          </a:p>
        </p:txBody>
      </p:sp>
      <p:sp>
        <p:nvSpPr>
          <p:cNvPr id="29" name="文本框 28"/>
          <p:cNvSpPr txBox="1"/>
          <p:nvPr/>
        </p:nvSpPr>
        <p:spPr>
          <a:xfrm>
            <a:off x="1" y="1856670"/>
            <a:ext cx="6055308" cy="2535566"/>
          </a:xfrm>
          <a:prstGeom prst="rect">
            <a:avLst/>
          </a:prstGeom>
          <a:noFill/>
        </p:spPr>
        <p:txBody>
          <a:bodyPr wrap="square" rtlCol="0" anchor="t">
            <a:spAutoFit/>
          </a:bodyPr>
          <a:lstStyle/>
          <a:p>
            <a:pPr algn="ctr">
              <a:lnSpc>
                <a:spcPct val="125000"/>
              </a:lnSpc>
              <a:spcBef>
                <a:spcPts val="0"/>
              </a:spcBef>
              <a:spcAft>
                <a:spcPts val="0"/>
              </a:spcAft>
            </a:pPr>
            <a:r>
              <a:rPr lang="en-US" sz="1600" dirty="0"/>
              <a:t>It presents brain MRI scans of Glioma, Meningioma, Pituitary and Healthy Brain using Deep Learning based CNN model as well as Explainable AI (XAI) techniques. MRI images are normalized, resized and augmented then trained. Heatmaps generated via Grad-CAM and Integrated Gradients are used to determine the tumor regions influencing predictions, improve the model transparency, trust as well as clinical interpretability.</a:t>
            </a:r>
            <a:endParaRPr lang="en-US" altLang="en-US" dirty="0">
              <a:solidFill>
                <a:srgbClr val="FFFFFE">
                  <a:alpha val="90000"/>
                </a:srgbClr>
              </a:solidFill>
              <a:latin typeface="Hubot-Sans" charset="0"/>
              <a:ea typeface="Hubot-Sans" charset="0"/>
              <a:cs typeface="Hubot-Sans" charset="0"/>
              <a:sym typeface="+mn-ea"/>
            </a:endParaRPr>
          </a:p>
        </p:txBody>
      </p:sp>
      <p:sp>
        <p:nvSpPr>
          <p:cNvPr id="10" name="文本框 9"/>
          <p:cNvSpPr txBox="1"/>
          <p:nvPr/>
        </p:nvSpPr>
        <p:spPr>
          <a:xfrm>
            <a:off x="1021715" y="522605"/>
            <a:ext cx="44900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ARCHITECTURE</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pic>
        <p:nvPicPr>
          <p:cNvPr id="3" name="Picture 2">
            <a:extLst>
              <a:ext uri="{FF2B5EF4-FFF2-40B4-BE49-F238E27FC236}">
                <a16:creationId xmlns:a16="http://schemas.microsoft.com/office/drawing/2014/main" id="{A5B04CE4-F47C-8F62-E685-13BD76FF2708}"/>
              </a:ext>
            </a:extLst>
          </p:cNvPr>
          <p:cNvPicPr>
            <a:picLocks noChangeAspect="1"/>
          </p:cNvPicPr>
          <p:nvPr/>
        </p:nvPicPr>
        <p:blipFill>
          <a:blip r:embed="rId3"/>
          <a:stretch>
            <a:fillRect/>
          </a:stretch>
        </p:blipFill>
        <p:spPr>
          <a:xfrm>
            <a:off x="6136692" y="1511156"/>
            <a:ext cx="6055308" cy="5058697"/>
          </a:xfrm>
          <a:prstGeom prst="rect">
            <a:avLst/>
          </a:prstGeom>
          <a:ln>
            <a:noFill/>
          </a:ln>
          <a:effectLst>
            <a:softEdge rad="112500"/>
          </a:effectLst>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3265" y="1030473"/>
            <a:ext cx="11787674" cy="5543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eaLnBrk="0" fontAlgn="base" hangingPunct="0">
              <a:lnSpc>
                <a:spcPct val="150000"/>
              </a:lnSpc>
              <a:spcBef>
                <a:spcPct val="0"/>
              </a:spcBef>
              <a:spcAft>
                <a:spcPct val="0"/>
              </a:spcAft>
              <a:buFont typeface="Wingdings" panose="05000000000000000000" pitchFamily="2" charset="2"/>
              <a:buChar char="§"/>
            </a:pPr>
            <a:r>
              <a:rPr lang="en-US" altLang="en-US" b="1" dirty="0">
                <a:solidFill>
                  <a:schemeClr val="tx1"/>
                </a:solidFill>
                <a:latin typeface="Arial" panose="020B0604020202020204" pitchFamily="34" charset="0"/>
              </a:rPr>
              <a:t> Automated Brain Tumor Detection: </a:t>
            </a:r>
            <a:r>
              <a:rPr lang="en-US" altLang="en-US" dirty="0">
                <a:solidFill>
                  <a:schemeClr val="tx1"/>
                </a:solidFill>
                <a:latin typeface="Arial" panose="020B0604020202020204" pitchFamily="34" charset="0"/>
              </a:rPr>
              <a:t>Predicts the type of MRI scan Glioma, Meningioma, Pituitary and Healthy Brain with a CNN-based model.</a:t>
            </a:r>
          </a:p>
          <a:p>
            <a:pPr marL="285750" lvl="0" indent="-285750" eaLnBrk="0" fontAlgn="base" hangingPunct="0">
              <a:lnSpc>
                <a:spcPct val="150000"/>
              </a:lnSpc>
              <a:spcBef>
                <a:spcPct val="0"/>
              </a:spcBef>
              <a:spcAft>
                <a:spcPct val="0"/>
              </a:spcAft>
              <a:buFont typeface="Wingdings" panose="05000000000000000000" pitchFamily="2" charset="2"/>
              <a:buChar char="§"/>
            </a:pPr>
            <a:r>
              <a:rPr lang="en-US" altLang="en-US" b="1" dirty="0">
                <a:solidFill>
                  <a:schemeClr val="tx1"/>
                </a:solidFill>
                <a:latin typeface="Arial" panose="020B0604020202020204" pitchFamily="34" charset="0"/>
              </a:rPr>
              <a:t>Explainable AI Integration: </a:t>
            </a:r>
            <a:r>
              <a:rPr lang="en-US" altLang="en-US" dirty="0">
                <a:solidFill>
                  <a:schemeClr val="tx1"/>
                </a:solidFill>
                <a:latin typeface="Arial" panose="020B0604020202020204" pitchFamily="34" charset="0"/>
              </a:rPr>
              <a:t>It is known with the help of Grad-CAM and Integrated Gradient to generate heatmaps of places in the tumor that influence predictions.</a:t>
            </a:r>
          </a:p>
          <a:p>
            <a:pPr marL="285750" lvl="0" indent="-285750" eaLnBrk="0" fontAlgn="base" hangingPunct="0">
              <a:lnSpc>
                <a:spcPct val="150000"/>
              </a:lnSpc>
              <a:spcBef>
                <a:spcPct val="0"/>
              </a:spcBef>
              <a:spcAft>
                <a:spcPct val="0"/>
              </a:spcAft>
              <a:buFont typeface="Wingdings" panose="05000000000000000000" pitchFamily="2" charset="2"/>
              <a:buChar char="§"/>
            </a:pPr>
            <a:r>
              <a:rPr lang="en-US" altLang="en-US" b="1" dirty="0">
                <a:solidFill>
                  <a:schemeClr val="tx1"/>
                </a:solidFill>
                <a:latin typeface="Arial" panose="020B0604020202020204" pitchFamily="34" charset="0"/>
              </a:rPr>
              <a:t>High Accuracy &amp; Reliability: </a:t>
            </a:r>
            <a:r>
              <a:rPr lang="en-US" altLang="en-US" dirty="0">
                <a:solidFill>
                  <a:schemeClr val="tx1"/>
                </a:solidFill>
                <a:latin typeface="Arial" panose="020B0604020202020204" pitchFamily="34" charset="0"/>
              </a:rPr>
              <a:t>It has good classification and good performance in evaluation parameters.</a:t>
            </a:r>
          </a:p>
          <a:p>
            <a:pPr marL="285750" lvl="0" indent="-285750" eaLnBrk="0" fontAlgn="base" hangingPunct="0">
              <a:lnSpc>
                <a:spcPct val="150000"/>
              </a:lnSpc>
              <a:spcBef>
                <a:spcPct val="0"/>
              </a:spcBef>
              <a:spcAft>
                <a:spcPct val="0"/>
              </a:spcAft>
              <a:buFont typeface="Wingdings" panose="05000000000000000000" pitchFamily="2" charset="2"/>
              <a:buChar char="§"/>
            </a:pPr>
            <a:r>
              <a:rPr lang="en-US" altLang="en-US" b="1" dirty="0">
                <a:solidFill>
                  <a:schemeClr val="tx1"/>
                </a:solidFill>
                <a:latin typeface="Arial" panose="020B0604020202020204" pitchFamily="34" charset="0"/>
              </a:rPr>
              <a:t>Clinically Interpretable Results:</a:t>
            </a:r>
            <a:r>
              <a:rPr lang="en-US" altLang="en-US" dirty="0">
                <a:solidFill>
                  <a:schemeClr val="tx1"/>
                </a:solidFill>
                <a:latin typeface="Arial" panose="020B0604020202020204" pitchFamily="34" charset="0"/>
              </a:rPr>
              <a:t> Visual Explanations to enhance trust and transparency in AI-aid including the diagnostic process.</a:t>
            </a:r>
          </a:p>
          <a:p>
            <a:pPr marL="285750" lvl="0" indent="-285750" eaLnBrk="0" fontAlgn="base" hangingPunct="0">
              <a:lnSpc>
                <a:spcPct val="150000"/>
              </a:lnSpc>
              <a:spcBef>
                <a:spcPct val="0"/>
              </a:spcBef>
              <a:spcAft>
                <a:spcPct val="0"/>
              </a:spcAft>
              <a:buFont typeface="Wingdings" panose="05000000000000000000" pitchFamily="2" charset="2"/>
              <a:buChar char="§"/>
            </a:pPr>
            <a:r>
              <a:rPr lang="en-US" altLang="en-US" b="1" dirty="0">
                <a:solidFill>
                  <a:schemeClr val="tx1"/>
                </a:solidFill>
                <a:latin typeface="Arial" panose="020B0604020202020204" pitchFamily="34" charset="0"/>
              </a:rPr>
              <a:t>Scalable Design:</a:t>
            </a:r>
            <a:r>
              <a:rPr lang="en-US" altLang="en-US" dirty="0">
                <a:solidFill>
                  <a:schemeClr val="tx1"/>
                </a:solidFill>
                <a:latin typeface="Arial" panose="020B0604020202020204" pitchFamily="34" charset="0"/>
              </a:rPr>
              <a:t> Can be expanded to </a:t>
            </a:r>
            <a:r>
              <a:rPr lang="en-US" altLang="en-US" b="1" dirty="0">
                <a:solidFill>
                  <a:schemeClr val="tx1"/>
                </a:solidFill>
                <a:latin typeface="Arial" panose="020B0604020202020204" pitchFamily="34" charset="0"/>
              </a:rPr>
              <a:t>3D MRI analysis </a:t>
            </a:r>
            <a:r>
              <a:rPr lang="en-US" altLang="en-US" dirty="0">
                <a:solidFill>
                  <a:schemeClr val="tx1"/>
                </a:solidFill>
                <a:latin typeface="Arial" panose="020B0604020202020204" pitchFamily="34" charset="0"/>
              </a:rPr>
              <a:t>or can be put into use with hospital diagnostic systems.</a:t>
            </a:r>
            <a:endParaRPr lang="en-US" altLang="en-US" b="0" strike="noStrike" spc="-1" dirty="0">
              <a:solidFill>
                <a:schemeClr val="bg1"/>
              </a:solidFill>
              <a:latin typeface="+mj-lt"/>
              <a:cs typeface="+mj-lt"/>
            </a:endParaRPr>
          </a:p>
        </p:txBody>
      </p:sp>
      <p:sp>
        <p:nvSpPr>
          <p:cNvPr id="29" name="文本框 28"/>
          <p:cNvSpPr txBox="1"/>
          <p:nvPr/>
        </p:nvSpPr>
        <p:spPr>
          <a:xfrm>
            <a:off x="552450" y="2331720"/>
            <a:ext cx="4566285" cy="437515"/>
          </a:xfrm>
          <a:prstGeom prst="rect">
            <a:avLst/>
          </a:prstGeom>
          <a:noFill/>
        </p:spPr>
        <p:txBody>
          <a:bodyPr wrap="square" rtlCol="0" anchor="t">
            <a:spAutoFit/>
          </a:bodyPr>
          <a:lstStyle/>
          <a:p>
            <a:pPr algn="ctr">
              <a:lnSpc>
                <a:spcPct val="125000"/>
              </a:lnSpc>
              <a:spcBef>
                <a:spcPts val="0"/>
              </a:spcBef>
              <a:spcAft>
                <a:spcPts val="0"/>
              </a:spcAft>
            </a:pPr>
            <a:endParaRPr lang="en-US" altLang="en-US" dirty="0">
              <a:solidFill>
                <a:srgbClr val="FFFFFE">
                  <a:alpha val="90000"/>
                </a:srgbClr>
              </a:solidFill>
              <a:latin typeface="Hubot-Sans" charset="0"/>
              <a:ea typeface="Hubot-Sans" charset="0"/>
              <a:cs typeface="Hubot-Sans" charset="0"/>
              <a:sym typeface="+mn-ea"/>
            </a:endParaRPr>
          </a:p>
        </p:txBody>
      </p:sp>
      <p:sp>
        <p:nvSpPr>
          <p:cNvPr id="10" name="文本框 9"/>
          <p:cNvSpPr txBox="1"/>
          <p:nvPr/>
        </p:nvSpPr>
        <p:spPr>
          <a:xfrm>
            <a:off x="1021715" y="522605"/>
            <a:ext cx="48075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KEY FEATURES</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008380" y="504190"/>
            <a:ext cx="6924040" cy="524510"/>
          </a:xfrm>
        </p:spPr>
        <p:txBody>
          <a:bodyPr>
            <a:normAutofit fontScale="90000"/>
          </a:bodyPr>
          <a:lstStyle/>
          <a:p>
            <a:r>
              <a:rPr lang="en-US" b="0"/>
              <a:t>CHALLENGES &amp; SOLUTIONS</a:t>
            </a:r>
          </a:p>
        </p:txBody>
      </p:sp>
      <p:sp>
        <p:nvSpPr>
          <p:cNvPr id="3" name="Content Placeholder 2"/>
          <p:cNvSpPr>
            <a:spLocks noGrp="1"/>
          </p:cNvSpPr>
          <p:nvPr>
            <p:ph idx="1"/>
            <p:custDataLst>
              <p:tags r:id="rId3"/>
            </p:custDataLst>
          </p:nvPr>
        </p:nvSpPr>
        <p:spPr/>
        <p:txBody>
          <a:bodyPr>
            <a:normAutofit/>
          </a:bodyPr>
          <a:lstStyle/>
          <a:p>
            <a:pPr>
              <a:defRPr sz="2000"/>
            </a:pPr>
            <a:r>
              <a:rPr lang="en-US" sz="2800" b="1" dirty="0">
                <a:solidFill>
                  <a:schemeClr val="tx1"/>
                </a:solidFill>
                <a:sym typeface="+mn-ea"/>
              </a:rPr>
              <a:t>Challenges: </a:t>
            </a:r>
            <a:r>
              <a:rPr lang="en-US" sz="2800" dirty="0">
                <a:solidFill>
                  <a:schemeClr val="tx1"/>
                </a:solidFill>
                <a:sym typeface="+mn-ea"/>
              </a:rPr>
              <a:t>Deep learning models used to classify medical images can be black boxes and thus it can be hard to explain the model and rely on prediction.</a:t>
            </a:r>
          </a:p>
          <a:p>
            <a:pPr>
              <a:defRPr sz="2000"/>
            </a:pPr>
            <a:r>
              <a:rPr lang="en-US" sz="2800" b="1" dirty="0">
                <a:solidFill>
                  <a:schemeClr val="tx1"/>
                </a:solidFill>
                <a:sym typeface="+mn-ea"/>
              </a:rPr>
              <a:t>Solutions: </a:t>
            </a:r>
            <a:r>
              <a:rPr lang="en-US" sz="2800" dirty="0">
                <a:solidFill>
                  <a:schemeClr val="tx1"/>
                </a:solidFill>
                <a:sym typeface="+mn-ea"/>
              </a:rPr>
              <a:t>Add Explainable AI (XAI) methods like Grad CAM and Integrated Gradients to give visual explanations (heatmaps) showing the parts of the model that affect the decision, which will enhance the level of transparency and clinical trust.</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995412" y="324378"/>
            <a:ext cx="7642225" cy="513715"/>
          </a:xfrm>
        </p:spPr>
        <p:txBody>
          <a:bodyPr>
            <a:normAutofit fontScale="90000"/>
          </a:bodyPr>
          <a:lstStyle/>
          <a:p>
            <a:r>
              <a:rPr lang="en-US" b="0" dirty="0"/>
              <a:t>METHODOLOGY &amp; RESULTS</a:t>
            </a:r>
          </a:p>
        </p:txBody>
      </p:sp>
      <p:sp>
        <p:nvSpPr>
          <p:cNvPr id="3" name="Content Placeholder 2"/>
          <p:cNvSpPr>
            <a:spLocks noGrp="1"/>
          </p:cNvSpPr>
          <p:nvPr>
            <p:ph idx="1"/>
            <p:custDataLst>
              <p:tags r:id="rId3"/>
            </p:custDataLst>
          </p:nvPr>
        </p:nvSpPr>
        <p:spPr>
          <a:xfrm>
            <a:off x="199118" y="1073668"/>
            <a:ext cx="11116945" cy="5784332"/>
          </a:xfrm>
        </p:spPr>
        <p:txBody>
          <a:bodyPr>
            <a:noAutofit/>
          </a:bodyPr>
          <a:lstStyle/>
          <a:p>
            <a:pPr>
              <a:lnSpc>
                <a:spcPct val="100000"/>
              </a:lnSpc>
            </a:pPr>
            <a:r>
              <a:rPr lang="en-US" b="1" dirty="0">
                <a:solidFill>
                  <a:schemeClr val="tx1"/>
                </a:solidFill>
              </a:rPr>
              <a:t>Methodology:</a:t>
            </a:r>
          </a:p>
          <a:p>
            <a:pPr>
              <a:lnSpc>
                <a:spcPct val="100000"/>
              </a:lnSpc>
            </a:pPr>
            <a:r>
              <a:rPr lang="en-US" dirty="0">
                <a:solidFill>
                  <a:schemeClr val="tx1"/>
                </a:solidFill>
              </a:rPr>
              <a:t>MRI scans of brain tumor(Glioma, Meningioma, Pituitary, Healthy).</a:t>
            </a:r>
          </a:p>
          <a:p>
            <a:pPr>
              <a:lnSpc>
                <a:spcPct val="100000"/>
              </a:lnSpc>
            </a:pPr>
            <a:r>
              <a:rPr lang="en-US" dirty="0">
                <a:solidFill>
                  <a:schemeClr val="tx1"/>
                </a:solidFill>
              </a:rPr>
              <a:t>Normalize, upscale and resize images to enhance model- quality.</a:t>
            </a:r>
          </a:p>
          <a:p>
            <a:pPr>
              <a:lnSpc>
                <a:spcPct val="100000"/>
              </a:lnSpc>
            </a:pPr>
            <a:r>
              <a:rPr lang="en-US" dirty="0">
                <a:solidFill>
                  <a:schemeClr val="tx1"/>
                </a:solidFill>
              </a:rPr>
              <a:t>Training a CNN model to predict the type of four types of tumors that the MRI scan belongs </a:t>
            </a:r>
            <a:r>
              <a:rPr lang="en-US" dirty="0" err="1">
                <a:solidFill>
                  <a:schemeClr val="tx1"/>
                </a:solidFill>
              </a:rPr>
              <a:t>to.Include</a:t>
            </a:r>
            <a:r>
              <a:rPr lang="en-US" dirty="0">
                <a:solidFill>
                  <a:schemeClr val="tx1"/>
                </a:solidFill>
              </a:rPr>
              <a:t> XAI methods like Grad-CAM and Integrated Gradients to explain the models.</a:t>
            </a:r>
          </a:p>
          <a:p>
            <a:pPr>
              <a:lnSpc>
                <a:spcPct val="100000"/>
              </a:lnSpc>
            </a:pPr>
            <a:r>
              <a:rPr lang="en-US" dirty="0">
                <a:solidFill>
                  <a:schemeClr val="tx1"/>
                </a:solidFill>
              </a:rPr>
              <a:t>Prepare heatmaps that reveal tumor regions that were predicted.</a:t>
            </a:r>
          </a:p>
          <a:p>
            <a:pPr>
              <a:lnSpc>
                <a:spcPct val="100000"/>
              </a:lnSpc>
            </a:pPr>
            <a:r>
              <a:rPr lang="en-US" dirty="0">
                <a:solidFill>
                  <a:schemeClr val="tx1"/>
                </a:solidFill>
              </a:rPr>
              <a:t>Compare the performance of the model according to Accuracy, Precision, Recall, F1-score and ROC-AUC.</a:t>
            </a:r>
          </a:p>
          <a:p>
            <a:pPr>
              <a:lnSpc>
                <a:spcPct val="100000"/>
              </a:lnSpc>
            </a:pPr>
            <a:r>
              <a:rPr lang="en-US" b="1" dirty="0">
                <a:solidFill>
                  <a:schemeClr val="tx1"/>
                </a:solidFill>
              </a:rPr>
              <a:t>Results:</a:t>
            </a:r>
          </a:p>
          <a:p>
            <a:pPr>
              <a:lnSpc>
                <a:spcPct val="100000"/>
              </a:lnSpc>
            </a:pPr>
            <a:r>
              <a:rPr lang="en-US" dirty="0">
                <a:solidFill>
                  <a:schemeClr val="tx1"/>
                </a:solidFill>
              </a:rPr>
              <a:t>This system had the capability to differentiate brain MRI scan in Glioma, Meningioma, Pituitary and Healthy Brain. The Grad-CAM and Integrated Gradients XAI techniques gave heatmaps showing the regions of tumor that influenced the prediction. The model is correct and it has converged consistently which is a good performance. Introduction of XAI improved trust, interpretability, and clinical transparency in the diagnosis</a:t>
            </a:r>
            <a:r>
              <a:rPr lang="en-US" sz="1600" b="1" dirty="0">
                <a:solidFill>
                  <a:schemeClr val="tx1"/>
                </a:solidFill>
              </a:rPr>
              <a:t>.</a:t>
            </a:r>
            <a:endParaRPr lang="en-US" sz="2000" dirty="0">
              <a:solidFill>
                <a:schemeClr val="tx1"/>
              </a:solidFill>
              <a:sym typeface="+mn-ea"/>
            </a:endParaRPr>
          </a:p>
        </p:txBody>
      </p:sp>
      <p:grpSp>
        <p:nvGrpSpPr>
          <p:cNvPr id="11" name="组合 10"/>
          <p:cNvGrpSpPr/>
          <p:nvPr/>
        </p:nvGrpSpPr>
        <p:grpSpPr>
          <a:xfrm>
            <a:off x="377607" y="324378"/>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0334" y="1129704"/>
            <a:ext cx="11709503" cy="56349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b="0" strike="noStrike" spc="-1" dirty="0">
              <a:solidFill>
                <a:schemeClr val="bg1"/>
              </a:solidFill>
              <a:latin typeface="+mj-lt"/>
              <a:cs typeface="+mj-lt"/>
            </a:endParaRPr>
          </a:p>
        </p:txBody>
      </p:sp>
      <p:sp>
        <p:nvSpPr>
          <p:cNvPr id="29" name="文本框 28"/>
          <p:cNvSpPr txBox="1"/>
          <p:nvPr/>
        </p:nvSpPr>
        <p:spPr>
          <a:xfrm>
            <a:off x="552450" y="2331720"/>
            <a:ext cx="4566285" cy="437515"/>
          </a:xfrm>
          <a:prstGeom prst="rect">
            <a:avLst/>
          </a:prstGeom>
          <a:noFill/>
        </p:spPr>
        <p:txBody>
          <a:bodyPr wrap="square" rtlCol="0" anchor="t">
            <a:spAutoFit/>
          </a:bodyPr>
          <a:lstStyle/>
          <a:p>
            <a:pPr algn="ctr">
              <a:lnSpc>
                <a:spcPct val="125000"/>
              </a:lnSpc>
              <a:spcBef>
                <a:spcPts val="0"/>
              </a:spcBef>
              <a:spcAft>
                <a:spcPts val="0"/>
              </a:spcAft>
            </a:pPr>
            <a:endParaRPr lang="en-US" altLang="en-US" dirty="0">
              <a:solidFill>
                <a:srgbClr val="FFFFFE">
                  <a:alpha val="90000"/>
                </a:srgbClr>
              </a:solidFill>
              <a:latin typeface="Hubot-Sans" charset="0"/>
              <a:ea typeface="Hubot-Sans" charset="0"/>
              <a:cs typeface="Hubot-Sans" charset="0"/>
              <a:sym typeface="+mn-ea"/>
            </a:endParaRPr>
          </a:p>
        </p:txBody>
      </p:sp>
      <p:sp>
        <p:nvSpPr>
          <p:cNvPr id="10" name="文本框 9"/>
          <p:cNvSpPr txBox="1"/>
          <p:nvPr/>
        </p:nvSpPr>
        <p:spPr>
          <a:xfrm>
            <a:off x="1021715" y="522605"/>
            <a:ext cx="48075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PROPOSED PLAN</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
        <p:nvSpPr>
          <p:cNvPr id="12" name="Text Box 11"/>
          <p:cNvSpPr txBox="1"/>
          <p:nvPr/>
        </p:nvSpPr>
        <p:spPr>
          <a:xfrm>
            <a:off x="457617" y="1226095"/>
            <a:ext cx="10655142" cy="4204356"/>
          </a:xfrm>
          <a:prstGeom prst="rect">
            <a:avLst/>
          </a:prstGeom>
          <a:noFill/>
        </p:spPr>
        <p:txBody>
          <a:bodyPr wrap="square" rtlCol="0">
            <a:spAutoFit/>
          </a:bodyPr>
          <a:lstStyle/>
          <a:p>
            <a:pPr>
              <a:lnSpc>
                <a:spcPct val="150000"/>
              </a:lnSpc>
            </a:pPr>
            <a:r>
              <a:rPr lang="en-US" sz="2000" dirty="0"/>
              <a:t>It will entail the creation of an AI-based system that will be able to classify the images of brain MRI automatically based on the below classes: Glioma, Meningioma, Pituitary and Healthy Brain. This is initiated by gathering and processing MRI images and then training a CNN model that classifies tumors correctly. Grad-CAM and Integrated Gradients, are some of the Explainable AI (XAI) methods used to visualize the tumor regions that affect predictions to promote transparency and clinical trust. Lastly, the system will be tested based on general metrics such as Accuracy, Precision, Recall, F1-score, and ROC-AUC, and it is possible to consider it as a decision-support system used by radiologists in the real-life context.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7754" y="1030474"/>
            <a:ext cx="12036491" cy="56349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tabLst>
                <a:tab pos="0" algn="l"/>
              </a:tabLst>
            </a:pPr>
            <a:r>
              <a:rPr lang="en-US" dirty="0"/>
              <a:t>The system may be enhanced by incorporating bigger and more varied MRI datasets to enhance accuracy and generalization.</a:t>
            </a:r>
          </a:p>
          <a:p>
            <a:pPr marL="285750" indent="-285750">
              <a:lnSpc>
                <a:spcPct val="150000"/>
              </a:lnSpc>
              <a:buFont typeface="Arial" panose="020B0604020202020204" pitchFamily="34" charset="0"/>
              <a:buChar char="•"/>
              <a:tabLst>
                <a:tab pos="0" algn="l"/>
              </a:tabLst>
            </a:pPr>
            <a:r>
              <a:rPr lang="en-US" dirty="0"/>
              <a:t>The next steps of work involve the creation of 3D deep learning models to perform volumetric tumor analysis and uncertainty estimation as a way to make reliable predictions.</a:t>
            </a:r>
          </a:p>
          <a:p>
            <a:pPr marL="285750" indent="-285750">
              <a:lnSpc>
                <a:spcPct val="150000"/>
              </a:lnSpc>
              <a:buFont typeface="Arial" panose="020B0604020202020204" pitchFamily="34" charset="0"/>
              <a:buChar char="•"/>
              <a:tabLst>
                <a:tab pos="0" algn="l"/>
              </a:tabLst>
            </a:pPr>
            <a:r>
              <a:rPr lang="en-US" dirty="0"/>
              <a:t>The model can be implemented either as a web or mobile-based clinical decision-support tool, which will allow the real-time diagnosis.</a:t>
            </a:r>
          </a:p>
          <a:p>
            <a:pPr marL="285750" indent="-285750">
              <a:lnSpc>
                <a:spcPct val="150000"/>
              </a:lnSpc>
              <a:buFont typeface="Arial" panose="020B0604020202020204" pitchFamily="34" charset="0"/>
              <a:buChar char="•"/>
              <a:tabLst>
                <a:tab pos="0" algn="l"/>
              </a:tabLst>
            </a:pPr>
            <a:r>
              <a:rPr lang="en-US" dirty="0"/>
              <a:t>Additionally, scalability and real-world applicability may be improved by integrating with hospital PACS systems and AI platforms that are based in clouds.</a:t>
            </a:r>
            <a:endParaRPr lang="en-GB" altLang="en-US" b="0" strike="noStrike" spc="-1" dirty="0">
              <a:solidFill>
                <a:schemeClr val="bg1"/>
              </a:solidFill>
              <a:ea typeface="DM Sans"/>
              <a:cs typeface="+mn-lt"/>
              <a:sym typeface="+mn-ea"/>
            </a:endParaRPr>
          </a:p>
        </p:txBody>
      </p:sp>
      <p:sp>
        <p:nvSpPr>
          <p:cNvPr id="10" name="文本框 9"/>
          <p:cNvSpPr txBox="1"/>
          <p:nvPr/>
        </p:nvSpPr>
        <p:spPr>
          <a:xfrm>
            <a:off x="1021715" y="522605"/>
            <a:ext cx="48075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FUTURE SCOPE</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617" y="1166748"/>
            <a:ext cx="11298954" cy="56349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a:lnSpc>
                <a:spcPct val="100000"/>
              </a:lnSpc>
              <a:buNone/>
              <a:tabLst>
                <a:tab pos="0" algn="l"/>
              </a:tabLst>
            </a:pPr>
            <a:endParaRPr lang="en-GB" altLang="en-US" b="0" strike="noStrike" spc="-1" dirty="0">
              <a:solidFill>
                <a:schemeClr val="bg1"/>
              </a:solidFill>
              <a:ea typeface="DM Sans"/>
              <a:cs typeface="+mn-lt"/>
              <a:sym typeface="+mn-ea"/>
            </a:endParaRPr>
          </a:p>
        </p:txBody>
      </p:sp>
      <p:sp>
        <p:nvSpPr>
          <p:cNvPr id="29" name="文本框 28"/>
          <p:cNvSpPr txBox="1"/>
          <p:nvPr/>
        </p:nvSpPr>
        <p:spPr>
          <a:xfrm>
            <a:off x="706367" y="1567353"/>
            <a:ext cx="10247772" cy="4204356"/>
          </a:xfrm>
          <a:prstGeom prst="rect">
            <a:avLst/>
          </a:prstGeom>
          <a:noFill/>
        </p:spPr>
        <p:txBody>
          <a:bodyPr wrap="square" rtlCol="0" anchor="t">
            <a:spAutoFit/>
          </a:bodyPr>
          <a:lstStyle/>
          <a:p>
            <a:pPr>
              <a:lnSpc>
                <a:spcPct val="150000"/>
              </a:lnSpc>
              <a:spcBef>
                <a:spcPts val="0"/>
              </a:spcBef>
              <a:spcAft>
                <a:spcPts val="0"/>
              </a:spcAft>
            </a:pPr>
            <a:r>
              <a:rPr lang="en-US" sz="2000" dirty="0"/>
              <a:t>It shows an AI-based solution to predicting brain tumors based on the MRI scans with Deep Learning and Explainable AI (XAI) methods. The system detects MRI images with high accuracy in the classifications of Glioma, Meningioma, Pituitary and Healthy Brain and can show visual heatmaps in Grad-CAM and Integrated Gradients to describe its results. This accuracy and transparency promote clinical trust, reliability, and interpretability in the diagnosis that is assisted by AI. The created model can be viewed as a powerful base of healthcare AI systems in the future and add value to quicker, more dependable, and </a:t>
            </a:r>
            <a:r>
              <a:rPr lang="en-US" sz="2000" dirty="0" err="1"/>
              <a:t>clarifiable</a:t>
            </a:r>
            <a:r>
              <a:rPr lang="en-US" sz="2000" dirty="0"/>
              <a:t> medical decision-making.</a:t>
            </a:r>
            <a:endParaRPr lang="en-US" altLang="en-US" dirty="0">
              <a:solidFill>
                <a:srgbClr val="FFFFFE">
                  <a:alpha val="90000"/>
                </a:srgbClr>
              </a:solidFill>
              <a:latin typeface="Hubot-Sans" charset="0"/>
              <a:ea typeface="Hubot-Sans" charset="0"/>
              <a:cs typeface="Hubot-Sans" charset="0"/>
              <a:sym typeface="+mn-ea"/>
            </a:endParaRPr>
          </a:p>
        </p:txBody>
      </p:sp>
      <p:sp>
        <p:nvSpPr>
          <p:cNvPr id="10" name="文本框 9"/>
          <p:cNvSpPr txBox="1"/>
          <p:nvPr/>
        </p:nvSpPr>
        <p:spPr>
          <a:xfrm>
            <a:off x="1021715" y="522605"/>
            <a:ext cx="4807585" cy="460375"/>
          </a:xfrm>
          <a:prstGeom prst="rect">
            <a:avLst/>
          </a:prstGeom>
          <a:noFill/>
        </p:spPr>
        <p:txBody>
          <a:bodyPr wrap="square" rtlCol="0">
            <a:spAutoFit/>
          </a:bodyPr>
          <a:lstStyle/>
          <a:p>
            <a:r>
              <a:rPr lang="en-US" altLang="zh-CN" sz="2400" dirty="0">
                <a:solidFill>
                  <a:srgbClr val="333333"/>
                </a:solidFill>
                <a:latin typeface="Hubot-Sans" charset="0"/>
                <a:ea typeface="Hubot-Sans" charset="0"/>
                <a:cs typeface="Hubot-Sans" charset="0"/>
              </a:rPr>
              <a:t>CONCLUSION</a:t>
            </a:r>
          </a:p>
        </p:txBody>
      </p:sp>
      <p:grpSp>
        <p:nvGrpSpPr>
          <p:cNvPr id="11" name="组合 10"/>
          <p:cNvGrpSpPr/>
          <p:nvPr/>
        </p:nvGrpSpPr>
        <p:grpSpPr>
          <a:xfrm>
            <a:off x="457617" y="504219"/>
            <a:ext cx="414194" cy="434732"/>
            <a:chOff x="457617" y="504219"/>
            <a:chExt cx="414194" cy="434732"/>
          </a:xfrm>
        </p:grpSpPr>
        <p:sp>
          <p:nvSpPr>
            <p:cNvPr id="5" name="圆角矩形 4"/>
            <p:cNvSpPr/>
            <p:nvPr/>
          </p:nvSpPr>
          <p:spPr>
            <a:xfrm>
              <a:off x="457617" y="551713"/>
              <a:ext cx="387238" cy="38723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sp>
          <p:nvSpPr>
            <p:cNvPr id="13" name="圆角矩形 12"/>
            <p:cNvSpPr/>
            <p:nvPr/>
          </p:nvSpPr>
          <p:spPr>
            <a:xfrm>
              <a:off x="688184" y="504219"/>
              <a:ext cx="183627" cy="1836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Hubot-Sans" charset="0"/>
                <a:ea typeface="Hubot-Sans" charset="0"/>
                <a:cs typeface="Hubot-Sans" charset="0"/>
              </a:endParaRPr>
            </a:p>
          </p:txBody>
        </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JRNWSC3/AppData/Local/Temp/picturecompress_20220114142800/output_11.jpgoutput_11"/>
          <p:cNvPicPr>
            <a:picLocks noChangeAspect="1"/>
          </p:cNvPicPr>
          <p:nvPr/>
        </p:nvPicPr>
        <p:blipFill>
          <a:blip r:embed="rId3"/>
          <a:stretch>
            <a:fillRect/>
          </a:stretch>
        </p:blipFill>
        <p:spPr>
          <a:xfrm>
            <a:off x="1270" y="0"/>
            <a:ext cx="12192000" cy="6856095"/>
          </a:xfrm>
          <a:prstGeom prst="rect">
            <a:avLst/>
          </a:prstGeom>
        </p:spPr>
      </p:pic>
      <p:sp>
        <p:nvSpPr>
          <p:cNvPr id="14" name="矩形 9"/>
          <p:cNvSpPr/>
          <p:nvPr/>
        </p:nvSpPr>
        <p:spPr>
          <a:xfrm>
            <a:off x="-3810" y="-6349"/>
            <a:ext cx="12192000" cy="6857999"/>
          </a:xfrm>
          <a:prstGeom prst="rect">
            <a:avLst/>
          </a:prstGeom>
          <a:gradFill flip="none" rotWithShape="1">
            <a:gsLst>
              <a:gs pos="0">
                <a:schemeClr val="accent1"/>
              </a:gs>
              <a:gs pos="100000">
                <a:schemeClr val="accent1">
                  <a:alpha val="0"/>
                </a:scheme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rgbClr val="FFFFFF"/>
              </a:solidFill>
              <a:effectLst/>
              <a:uLnTx/>
              <a:uFillTx/>
              <a:cs typeface="+mn-ea"/>
              <a:sym typeface="+mn-lt"/>
            </a:endParaRPr>
          </a:p>
        </p:txBody>
      </p:sp>
      <p:sp>
        <p:nvSpPr>
          <p:cNvPr id="288" name="矩形 287"/>
          <p:cNvSpPr/>
          <p:nvPr/>
        </p:nvSpPr>
        <p:spPr>
          <a:xfrm>
            <a:off x="635" y="4004310"/>
            <a:ext cx="12192635" cy="2853690"/>
          </a:xfrm>
          <a:prstGeom prst="rect">
            <a:avLst/>
          </a:prstGeom>
          <a:gradFill>
            <a:gsLst>
              <a:gs pos="100000">
                <a:srgbClr val="EDE2D8">
                  <a:alpha val="62000"/>
                </a:srgbClr>
              </a:gs>
              <a:gs pos="0">
                <a:srgbClr val="80A1BE">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ubot-Sans" charset="0"/>
              <a:ea typeface="Hubot-Sans" charset="0"/>
              <a:cs typeface="Hubot-Sans" charset="0"/>
            </a:endParaRPr>
          </a:p>
        </p:txBody>
      </p:sp>
      <p:sp>
        <p:nvSpPr>
          <p:cNvPr id="9" name="文本框 8"/>
          <p:cNvSpPr txBox="1"/>
          <p:nvPr/>
        </p:nvSpPr>
        <p:spPr>
          <a:xfrm>
            <a:off x="1666240" y="2584450"/>
            <a:ext cx="8420100" cy="110680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600" b="1" i="1" u="none" strike="noStrike" kern="1200" cap="none" spc="0" normalizeH="0" baseline="0" noProof="0" dirty="0">
                <a:ln>
                  <a:noFill/>
                </a:ln>
                <a:solidFill>
                  <a:schemeClr val="bg1"/>
                </a:solidFill>
                <a:effectLst/>
                <a:uLnTx/>
                <a:uFillTx/>
                <a:latin typeface="Hubot-Sans" charset="0"/>
                <a:ea typeface="Hubot-Sans" charset="0"/>
                <a:cs typeface="+mn-ea"/>
                <a:sym typeface="+mn-lt"/>
              </a:rPr>
              <a:t>THANK YOU</a:t>
            </a:r>
          </a:p>
        </p:txBody>
      </p:sp>
      <p:sp>
        <p:nvSpPr>
          <p:cNvPr id="10" name="文本框 23"/>
          <p:cNvSpPr/>
          <p:nvPr/>
        </p:nvSpPr>
        <p:spPr bwMode="auto">
          <a:xfrm>
            <a:off x="1666240" y="3691255"/>
            <a:ext cx="7016115" cy="34925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altLang="zh-CN" sz="1400" b="0" i="1" u="none" strike="noStrike" kern="1200" cap="none" spc="0" normalizeH="0" baseline="0" noProof="0" dirty="0">
              <a:ln>
                <a:noFill/>
              </a:ln>
              <a:solidFill>
                <a:schemeClr val="bg1"/>
              </a:solidFill>
              <a:effectLst/>
              <a:uLnTx/>
              <a:uFillTx/>
              <a:cs typeface="+mn-ea"/>
              <a:sym typeface="+mn-lt"/>
            </a:endParaRPr>
          </a:p>
        </p:txBody>
      </p:sp>
      <p:sp>
        <p:nvSpPr>
          <p:cNvPr id="11" name="文本框 25"/>
          <p:cNvSpPr/>
          <p:nvPr/>
        </p:nvSpPr>
        <p:spPr>
          <a:xfrm>
            <a:off x="1666240" y="1607382"/>
            <a:ext cx="3138170" cy="977265"/>
          </a:xfrm>
          <a:prstGeom prst="rect">
            <a:avLst/>
          </a:prstGeom>
        </p:spPr>
        <p:txBody>
          <a:bodyPr wrap="non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4800" b="1" i="1" u="none" strike="noStrike" kern="1200" cap="none" spc="0" normalizeH="0" baseline="0" noProof="0" dirty="0">
                <a:ln>
                  <a:noFill/>
                </a:ln>
                <a:solidFill>
                  <a:schemeClr val="bg1"/>
                </a:solidFill>
                <a:effectLst/>
                <a:uLnTx/>
                <a:uFillTx/>
                <a:latin typeface="Hubot-Sans" charset="0"/>
                <a:ea typeface="Hubot-Sans" charset="0"/>
                <a:cs typeface="+mn-ea"/>
                <a:sym typeface="+mn-lt"/>
              </a:rPr>
              <a:t>—</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9ec3607-4332-4c72-a43e-b0756ecc1805"/>
  <p:tag name="COMMONDATA" val="eyJoZGlkIjoiMmNmYmEwOWQ4Y2Q0M2IxMGZkNjI4ZjhkZDQyNzg1OT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TABLE_ENDDRAG_ORIGIN_RECT" val="839*390"/>
  <p:tag name="TABLE_ENDDRAG_RECT" val="61*87*839*390"/>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自定义 5">
      <a:dk1>
        <a:srgbClr val="000000"/>
      </a:dk1>
      <a:lt1>
        <a:srgbClr val="FFFFFF"/>
      </a:lt1>
      <a:dk2>
        <a:srgbClr val="0F1423"/>
      </a:dk2>
      <a:lt2>
        <a:srgbClr val="FFFFFF"/>
      </a:lt2>
      <a:accent1>
        <a:srgbClr val="4B759D"/>
      </a:accent1>
      <a:accent2>
        <a:srgbClr val="6F88A3"/>
      </a:accent2>
      <a:accent3>
        <a:srgbClr val="929BA9"/>
      </a:accent3>
      <a:accent4>
        <a:srgbClr val="B6ADAF"/>
      </a:accent4>
      <a:accent5>
        <a:srgbClr val="D9C0B5"/>
      </a:accent5>
      <a:accent6>
        <a:srgbClr val="FDD3BB"/>
      </a:accent6>
      <a:hlink>
        <a:srgbClr val="0563C1"/>
      </a:hlink>
      <a:folHlink>
        <a:srgbClr val="954D72"/>
      </a:folHlink>
    </a:clrScheme>
    <a:fontScheme name="自定义 9">
      <a:majorFont>
        <a:latin typeface="Hubot-Sans"/>
        <a:ea typeface="Hubot-Sans"/>
        <a:cs typeface=""/>
      </a:majorFont>
      <a:minorFont>
        <a:latin typeface="Hubot-Sans"/>
        <a:ea typeface="Hubot-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ubot-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ubot-Sans Black"/>
        <a:ea typeface=""/>
        <a:cs typeface=""/>
        <a:font script="Jpan" typeface="ＭＳ Ｐゴシック"/>
        <a:font script="Hang" typeface="맑은 고딕"/>
        <a:font script="Hans" typeface="Hubot-Sans"/>
        <a:font script="Hant" typeface="新細明體"/>
        <a:font script="Arab" typeface="Hubot-Sans"/>
        <a:font script="Hebr" typeface="Hubot-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Hubot-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Hubot-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ubot-Sans Black"/>
        <a:ea typeface=""/>
        <a:cs typeface=""/>
        <a:font script="Jpan" typeface="ＭＳ Ｐゴシック"/>
        <a:font script="Hang" typeface="맑은 고딕"/>
        <a:font script="Hans" typeface="Hubot-Sans"/>
        <a:font script="Hant" typeface="新細明體"/>
        <a:font script="Arab" typeface="Hubot-Sans"/>
        <a:font script="Hebr" typeface="Hubot-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Hubot-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1354</Words>
  <Application>Microsoft Office PowerPoint</Application>
  <PresentationFormat>Widescreen</PresentationFormat>
  <Paragraphs>80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Times New Roman</vt:lpstr>
      <vt:lpstr>Wingdings</vt:lpstr>
      <vt:lpstr>DM Sans</vt:lpstr>
      <vt:lpstr>Arial</vt:lpstr>
      <vt:lpstr>Hubot-Sans Black</vt:lpstr>
      <vt:lpstr>Hubot-Sans</vt:lpstr>
      <vt:lpstr>Office 主题​​</vt:lpstr>
      <vt:lpstr>PowerPoint Presentation</vt:lpstr>
      <vt:lpstr>PowerPoint Presentation</vt:lpstr>
      <vt:lpstr>PowerPoint Presentation</vt:lpstr>
      <vt:lpstr>INTRODUCTION:</vt:lpstr>
      <vt:lpstr>PowerPoint Presentation</vt:lpstr>
      <vt:lpstr>OBJECTIVES &amp; MOTIVATION</vt:lpstr>
      <vt:lpstr>PROPOSED SYSTEM OVERVIEW:</vt:lpstr>
      <vt:lpstr>PowerPoint Presentation</vt:lpstr>
      <vt:lpstr>PowerPoint Presentation</vt:lpstr>
      <vt:lpstr>CHALLENGES &amp; SOLUTIONS</vt:lpstr>
      <vt:lpstr>METHODOLOGY &amp; RESULTS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Srinitha Reddy</dc:creator>
  <cp:lastModifiedBy>Srinitha Mulagundla</cp:lastModifiedBy>
  <cp:revision>22</cp:revision>
  <dcterms:created xsi:type="dcterms:W3CDTF">2022-01-14T06:27:00Z</dcterms:created>
  <dcterms:modified xsi:type="dcterms:W3CDTF">2025-11-16T09:55:41Z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E853BB6C5C464FBF9A987C4B9BB2B0E8_11</vt:lpwstr>
  </property>
</Properties>
</file>